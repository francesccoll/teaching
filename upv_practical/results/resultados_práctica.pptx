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667" r:id="rId2"/>
    <p:sldId id="680" r:id="rId3"/>
    <p:sldId id="681" r:id="rId4"/>
    <p:sldId id="260" r:id="rId5"/>
    <p:sldId id="692" r:id="rId6"/>
    <p:sldId id="693" r:id="rId7"/>
    <p:sldId id="694" r:id="rId8"/>
    <p:sldId id="695" r:id="rId9"/>
    <p:sldId id="696" r:id="rId10"/>
    <p:sldId id="697" r:id="rId11"/>
    <p:sldId id="698" r:id="rId12"/>
    <p:sldId id="699" r:id="rId13"/>
    <p:sldId id="682" r:id="rId14"/>
    <p:sldId id="688" r:id="rId15"/>
    <p:sldId id="685" r:id="rId16"/>
    <p:sldId id="684" r:id="rId17"/>
    <p:sldId id="689" r:id="rId18"/>
    <p:sldId id="690" r:id="rId19"/>
    <p:sldId id="668" r:id="rId20"/>
    <p:sldId id="669" r:id="rId21"/>
    <p:sldId id="670" r:id="rId22"/>
    <p:sldId id="671" r:id="rId23"/>
    <p:sldId id="672" r:id="rId24"/>
    <p:sldId id="673" r:id="rId25"/>
    <p:sldId id="674" r:id="rId26"/>
    <p:sldId id="675" r:id="rId27"/>
    <p:sldId id="676" r:id="rId28"/>
    <p:sldId id="67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02" d="100"/>
          <a:sy n="102" d="100"/>
        </p:scale>
        <p:origin x="192"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740540-8F38-7D4E-9070-4364FB4577A0}" type="datetimeFigureOut">
              <a:rPr lang="en-GB" smtClean="0"/>
              <a:t>14/10/2026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00F891-9A39-444D-9471-5176EE2CC25E}" type="slidenum">
              <a:rPr lang="en-GB" smtClean="0"/>
              <a:t>‹#›</a:t>
            </a:fld>
            <a:endParaRPr lang="en-GB"/>
          </a:p>
        </p:txBody>
      </p:sp>
    </p:spTree>
    <p:extLst>
      <p:ext uri="{BB962C8B-B14F-4D97-AF65-F5344CB8AC3E}">
        <p14:creationId xmlns:p14="http://schemas.microsoft.com/office/powerpoint/2010/main" val="148035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1E840-648A-D1F2-E270-38A9BD100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13621-882D-2A78-73CB-482154C4E4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71BE89-933F-6700-203E-01440A4A9578}"/>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2A438065-8D21-3BF4-4218-27971A96C898}"/>
              </a:ext>
            </a:extLst>
          </p:cNvPr>
          <p:cNvSpPr>
            <a:spLocks noGrp="1"/>
          </p:cNvSpPr>
          <p:nvPr>
            <p:ph type="sldNum" sz="quarter" idx="5"/>
          </p:nvPr>
        </p:nvSpPr>
        <p:spPr/>
        <p:txBody>
          <a:bodyPr/>
          <a:lstStyle/>
          <a:p>
            <a:fld id="{9B163FC3-9E18-8C4B-AF38-667357C65D14}" type="slidenum">
              <a:rPr lang="en-GB" smtClean="0"/>
              <a:t>2</a:t>
            </a:fld>
            <a:endParaRPr lang="en-GB"/>
          </a:p>
        </p:txBody>
      </p:sp>
    </p:spTree>
    <p:extLst>
      <p:ext uri="{BB962C8B-B14F-4D97-AF65-F5344CB8AC3E}">
        <p14:creationId xmlns:p14="http://schemas.microsoft.com/office/powerpoint/2010/main" val="1126965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09515-8913-907C-D52F-F7904F65D0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ADEDC4-2AE2-0F4E-5EB3-C17C7ECA27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D60F9-9DB9-F2F5-AF0F-53D0CC1F4857}"/>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9246401D-63CC-272C-4FB6-0F210CE4EA5F}"/>
              </a:ext>
            </a:extLst>
          </p:cNvPr>
          <p:cNvSpPr>
            <a:spLocks noGrp="1"/>
          </p:cNvSpPr>
          <p:nvPr>
            <p:ph type="sldNum" sz="quarter" idx="5"/>
          </p:nvPr>
        </p:nvSpPr>
        <p:spPr/>
        <p:txBody>
          <a:bodyPr/>
          <a:lstStyle/>
          <a:p>
            <a:fld id="{9B163FC3-9E18-8C4B-AF38-667357C65D14}" type="slidenum">
              <a:rPr lang="en-GB" smtClean="0"/>
              <a:t>3</a:t>
            </a:fld>
            <a:endParaRPr lang="en-GB"/>
          </a:p>
        </p:txBody>
      </p:sp>
    </p:spTree>
    <p:extLst>
      <p:ext uri="{BB962C8B-B14F-4D97-AF65-F5344CB8AC3E}">
        <p14:creationId xmlns:p14="http://schemas.microsoft.com/office/powerpoint/2010/main" val="3233847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Minor improvements: add better BMD image, add copyright to images</a:t>
            </a:r>
          </a:p>
        </p:txBody>
      </p:sp>
      <p:sp>
        <p:nvSpPr>
          <p:cNvPr id="4" name="Slide Number Placeholder 3"/>
          <p:cNvSpPr>
            <a:spLocks noGrp="1"/>
          </p:cNvSpPr>
          <p:nvPr>
            <p:ph type="sldNum" sz="quarter" idx="5"/>
          </p:nvPr>
        </p:nvSpPr>
        <p:spPr/>
        <p:txBody>
          <a:bodyPr/>
          <a:lstStyle/>
          <a:p>
            <a:fld id="{9B163FC3-9E18-8C4B-AF38-667357C65D14}" type="slidenum">
              <a:rPr lang="en-GB" smtClean="0"/>
              <a:t>4</a:t>
            </a:fld>
            <a:endParaRPr lang="en-GB"/>
          </a:p>
        </p:txBody>
      </p:sp>
    </p:spTree>
    <p:extLst>
      <p:ext uri="{BB962C8B-B14F-4D97-AF65-F5344CB8AC3E}">
        <p14:creationId xmlns:p14="http://schemas.microsoft.com/office/powerpoint/2010/main" val="2834237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47DB0-DA02-5A8A-57E1-BD1527D11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DCD13-8457-894D-3EBC-C18325E00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12260-A076-E1B2-3879-4E6D20F508A8}"/>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4E18865C-6257-8E93-7ED9-796C25CAC93D}"/>
              </a:ext>
            </a:extLst>
          </p:cNvPr>
          <p:cNvSpPr>
            <a:spLocks noGrp="1"/>
          </p:cNvSpPr>
          <p:nvPr>
            <p:ph type="sldNum" sz="quarter" idx="5"/>
          </p:nvPr>
        </p:nvSpPr>
        <p:spPr/>
        <p:txBody>
          <a:bodyPr/>
          <a:lstStyle/>
          <a:p>
            <a:fld id="{9B163FC3-9E18-8C4B-AF38-667357C65D14}" type="slidenum">
              <a:rPr lang="en-GB" smtClean="0"/>
              <a:t>5</a:t>
            </a:fld>
            <a:endParaRPr lang="en-GB"/>
          </a:p>
        </p:txBody>
      </p:sp>
    </p:spTree>
    <p:extLst>
      <p:ext uri="{BB962C8B-B14F-4D97-AF65-F5344CB8AC3E}">
        <p14:creationId xmlns:p14="http://schemas.microsoft.com/office/powerpoint/2010/main" val="3148007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BF794-7839-4F32-EE04-FA61A7BFAB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C8C679-D3E1-1357-4732-9876A138B7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815CF2-CA0B-1DE3-62CB-A76C5207007E}"/>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641161D9-D8F7-ED5D-0039-AF2397278EDE}"/>
              </a:ext>
            </a:extLst>
          </p:cNvPr>
          <p:cNvSpPr>
            <a:spLocks noGrp="1"/>
          </p:cNvSpPr>
          <p:nvPr>
            <p:ph type="sldNum" sz="quarter" idx="5"/>
          </p:nvPr>
        </p:nvSpPr>
        <p:spPr/>
        <p:txBody>
          <a:bodyPr/>
          <a:lstStyle/>
          <a:p>
            <a:fld id="{9B163FC3-9E18-8C4B-AF38-667357C65D14}" type="slidenum">
              <a:rPr lang="en-GB" smtClean="0"/>
              <a:t>6</a:t>
            </a:fld>
            <a:endParaRPr lang="en-GB"/>
          </a:p>
        </p:txBody>
      </p:sp>
    </p:spTree>
    <p:extLst>
      <p:ext uri="{BB962C8B-B14F-4D97-AF65-F5344CB8AC3E}">
        <p14:creationId xmlns:p14="http://schemas.microsoft.com/office/powerpoint/2010/main" val="5861172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923B8-2B86-8B64-19F4-ADE9075B20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8E2EFD-B064-5D65-C7D3-8D4DDD4B44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79BAC0-A938-0F1E-4502-7B600D7BAF18}"/>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A89F4FC1-DF05-8070-8080-CE7B6D6601CB}"/>
              </a:ext>
            </a:extLst>
          </p:cNvPr>
          <p:cNvSpPr>
            <a:spLocks noGrp="1"/>
          </p:cNvSpPr>
          <p:nvPr>
            <p:ph type="sldNum" sz="quarter" idx="5"/>
          </p:nvPr>
        </p:nvSpPr>
        <p:spPr/>
        <p:txBody>
          <a:bodyPr/>
          <a:lstStyle/>
          <a:p>
            <a:fld id="{9B163FC3-9E18-8C4B-AF38-667357C65D14}" type="slidenum">
              <a:rPr lang="en-GB" smtClean="0"/>
              <a:t>7</a:t>
            </a:fld>
            <a:endParaRPr lang="en-GB"/>
          </a:p>
        </p:txBody>
      </p:sp>
    </p:spTree>
    <p:extLst>
      <p:ext uri="{BB962C8B-B14F-4D97-AF65-F5344CB8AC3E}">
        <p14:creationId xmlns:p14="http://schemas.microsoft.com/office/powerpoint/2010/main" val="3800354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18CC5-EF98-4A0E-5EBA-AA2675832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ACCC6-65CB-909C-F841-F11BC55DDF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F24A5-9F48-1F79-E291-0B207A71FC4A}"/>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B57A9DCC-2DA2-0C0A-2013-7722A07AC4EE}"/>
              </a:ext>
            </a:extLst>
          </p:cNvPr>
          <p:cNvSpPr>
            <a:spLocks noGrp="1"/>
          </p:cNvSpPr>
          <p:nvPr>
            <p:ph type="sldNum" sz="quarter" idx="5"/>
          </p:nvPr>
        </p:nvSpPr>
        <p:spPr/>
        <p:txBody>
          <a:bodyPr/>
          <a:lstStyle/>
          <a:p>
            <a:fld id="{9B163FC3-9E18-8C4B-AF38-667357C65D14}" type="slidenum">
              <a:rPr lang="en-GB" smtClean="0"/>
              <a:t>8</a:t>
            </a:fld>
            <a:endParaRPr lang="en-GB"/>
          </a:p>
        </p:txBody>
      </p:sp>
    </p:spTree>
    <p:extLst>
      <p:ext uri="{BB962C8B-B14F-4D97-AF65-F5344CB8AC3E}">
        <p14:creationId xmlns:p14="http://schemas.microsoft.com/office/powerpoint/2010/main" val="234560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61FE2-AC26-51ED-6249-7689F3BE7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6A239-C999-C16C-2625-A51ED02E82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49B169-229D-5178-F3F9-69101519F073}"/>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4AEF2099-92D2-8C54-B61F-CA45FE5F5FEB}"/>
              </a:ext>
            </a:extLst>
          </p:cNvPr>
          <p:cNvSpPr>
            <a:spLocks noGrp="1"/>
          </p:cNvSpPr>
          <p:nvPr>
            <p:ph type="sldNum" sz="quarter" idx="5"/>
          </p:nvPr>
        </p:nvSpPr>
        <p:spPr/>
        <p:txBody>
          <a:bodyPr/>
          <a:lstStyle/>
          <a:p>
            <a:fld id="{9B163FC3-9E18-8C4B-AF38-667357C65D14}" type="slidenum">
              <a:rPr lang="en-GB" smtClean="0"/>
              <a:t>9</a:t>
            </a:fld>
            <a:endParaRPr lang="en-GB"/>
          </a:p>
        </p:txBody>
      </p:sp>
    </p:spTree>
    <p:extLst>
      <p:ext uri="{BB962C8B-B14F-4D97-AF65-F5344CB8AC3E}">
        <p14:creationId xmlns:p14="http://schemas.microsoft.com/office/powerpoint/2010/main" val="985283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5936C-740D-238A-3BCE-7873F3DE1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65AD01-6681-F8A6-3F98-43F031B02E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B9BDE1-5A3C-2360-9CE4-6832295BD4A9}"/>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D83C2B9C-EF60-B451-3574-628833A37D8D}"/>
              </a:ext>
            </a:extLst>
          </p:cNvPr>
          <p:cNvSpPr>
            <a:spLocks noGrp="1"/>
          </p:cNvSpPr>
          <p:nvPr>
            <p:ph type="sldNum" sz="quarter" idx="5"/>
          </p:nvPr>
        </p:nvSpPr>
        <p:spPr/>
        <p:txBody>
          <a:bodyPr/>
          <a:lstStyle/>
          <a:p>
            <a:fld id="{9B163FC3-9E18-8C4B-AF38-667357C65D14}" type="slidenum">
              <a:rPr lang="en-GB" smtClean="0"/>
              <a:t>10</a:t>
            </a:fld>
            <a:endParaRPr lang="en-GB"/>
          </a:p>
        </p:txBody>
      </p:sp>
    </p:spTree>
    <p:extLst>
      <p:ext uri="{BB962C8B-B14F-4D97-AF65-F5344CB8AC3E}">
        <p14:creationId xmlns:p14="http://schemas.microsoft.com/office/powerpoint/2010/main" val="4183160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E6A33-31F9-E121-EB4F-0715B1AA8D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F38DB-7F99-C36A-B23C-F8236C6DF9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EF3C95-49F8-FA5B-5BF5-A31D2962EBD3}"/>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FFB09B7E-9BE8-0E65-0966-954B411B8843}"/>
              </a:ext>
            </a:extLst>
          </p:cNvPr>
          <p:cNvSpPr>
            <a:spLocks noGrp="1"/>
          </p:cNvSpPr>
          <p:nvPr>
            <p:ph type="sldNum" sz="quarter" idx="5"/>
          </p:nvPr>
        </p:nvSpPr>
        <p:spPr/>
        <p:txBody>
          <a:bodyPr/>
          <a:lstStyle/>
          <a:p>
            <a:fld id="{9B163FC3-9E18-8C4B-AF38-667357C65D14}" type="slidenum">
              <a:rPr lang="en-GB" smtClean="0"/>
              <a:t>11</a:t>
            </a:fld>
            <a:endParaRPr lang="en-GB"/>
          </a:p>
        </p:txBody>
      </p:sp>
    </p:spTree>
    <p:extLst>
      <p:ext uri="{BB962C8B-B14F-4D97-AF65-F5344CB8AC3E}">
        <p14:creationId xmlns:p14="http://schemas.microsoft.com/office/powerpoint/2010/main" val="1740635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A960E-7325-2533-D53E-95A25EF3DA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85AFC-FDF0-A15A-46AD-94E0EB94A9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17F202-978A-B763-692A-CB6939C73E48}"/>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75816AB2-30A9-B244-9213-CD0DDFC2469E}"/>
              </a:ext>
            </a:extLst>
          </p:cNvPr>
          <p:cNvSpPr>
            <a:spLocks noGrp="1"/>
          </p:cNvSpPr>
          <p:nvPr>
            <p:ph type="sldNum" sz="quarter" idx="5"/>
          </p:nvPr>
        </p:nvSpPr>
        <p:spPr/>
        <p:txBody>
          <a:bodyPr/>
          <a:lstStyle/>
          <a:p>
            <a:fld id="{9B163FC3-9E18-8C4B-AF38-667357C65D14}" type="slidenum">
              <a:rPr lang="en-GB" smtClean="0"/>
              <a:t>12</a:t>
            </a:fld>
            <a:endParaRPr lang="en-GB"/>
          </a:p>
        </p:txBody>
      </p:sp>
    </p:spTree>
    <p:extLst>
      <p:ext uri="{BB962C8B-B14F-4D97-AF65-F5344CB8AC3E}">
        <p14:creationId xmlns:p14="http://schemas.microsoft.com/office/powerpoint/2010/main" val="2949251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E7F32-85D9-72D1-E1F1-FABD4F6258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CD6F0-6423-F641-0497-A6CCF93DD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4596BF-E859-61A4-64EF-B6D6962F9B87}"/>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257C147E-C7D8-A761-5C5D-948E7FB8DC46}"/>
              </a:ext>
            </a:extLst>
          </p:cNvPr>
          <p:cNvSpPr>
            <a:spLocks noGrp="1"/>
          </p:cNvSpPr>
          <p:nvPr>
            <p:ph type="sldNum" sz="quarter" idx="5"/>
          </p:nvPr>
        </p:nvSpPr>
        <p:spPr/>
        <p:txBody>
          <a:bodyPr/>
          <a:lstStyle/>
          <a:p>
            <a:fld id="{9B163FC3-9E18-8C4B-AF38-667357C65D14}" type="slidenum">
              <a:rPr lang="en-GB" smtClean="0"/>
              <a:t>13</a:t>
            </a:fld>
            <a:endParaRPr lang="en-GB"/>
          </a:p>
        </p:txBody>
      </p:sp>
    </p:spTree>
    <p:extLst>
      <p:ext uri="{BB962C8B-B14F-4D97-AF65-F5344CB8AC3E}">
        <p14:creationId xmlns:p14="http://schemas.microsoft.com/office/powerpoint/2010/main" val="2316570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0A331-FCCC-5195-6480-3D9C522CA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CF013-B4DE-CBEB-E0A6-42016251F6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A7D06-76C9-403F-1D18-3A209887CE06}"/>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34CFDC64-118C-F5F5-F673-48463D71BB0F}"/>
              </a:ext>
            </a:extLst>
          </p:cNvPr>
          <p:cNvSpPr>
            <a:spLocks noGrp="1"/>
          </p:cNvSpPr>
          <p:nvPr>
            <p:ph type="sldNum" sz="quarter" idx="5"/>
          </p:nvPr>
        </p:nvSpPr>
        <p:spPr/>
        <p:txBody>
          <a:bodyPr/>
          <a:lstStyle/>
          <a:p>
            <a:fld id="{9B163FC3-9E18-8C4B-AF38-667357C65D14}" type="slidenum">
              <a:rPr lang="en-GB" smtClean="0"/>
              <a:t>14</a:t>
            </a:fld>
            <a:endParaRPr lang="en-GB"/>
          </a:p>
        </p:txBody>
      </p:sp>
    </p:spTree>
    <p:extLst>
      <p:ext uri="{BB962C8B-B14F-4D97-AF65-F5344CB8AC3E}">
        <p14:creationId xmlns:p14="http://schemas.microsoft.com/office/powerpoint/2010/main" val="2964960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BA41E-C918-69C4-8C61-506E388FF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EDEF0-742E-62F1-6526-26294674D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AA2E97-7D19-9333-D7FE-C19B763710CF}"/>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4EBF4F25-9BF8-682E-D304-14313A8FC800}"/>
              </a:ext>
            </a:extLst>
          </p:cNvPr>
          <p:cNvSpPr>
            <a:spLocks noGrp="1"/>
          </p:cNvSpPr>
          <p:nvPr>
            <p:ph type="sldNum" sz="quarter" idx="5"/>
          </p:nvPr>
        </p:nvSpPr>
        <p:spPr/>
        <p:txBody>
          <a:bodyPr/>
          <a:lstStyle/>
          <a:p>
            <a:fld id="{9B163FC3-9E18-8C4B-AF38-667357C65D14}" type="slidenum">
              <a:rPr lang="en-GB" smtClean="0"/>
              <a:t>15</a:t>
            </a:fld>
            <a:endParaRPr lang="en-GB"/>
          </a:p>
        </p:txBody>
      </p:sp>
    </p:spTree>
    <p:extLst>
      <p:ext uri="{BB962C8B-B14F-4D97-AF65-F5344CB8AC3E}">
        <p14:creationId xmlns:p14="http://schemas.microsoft.com/office/powerpoint/2010/main" val="3457552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AEAF-96D1-83E6-4E47-9D83B0DA33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E2418-00BE-2984-9A09-1D6495346C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CAF76D-1DCD-6A75-0672-96D543E601A9}"/>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7B35C6CE-9B5A-DA8D-76A2-A971BD1323BB}"/>
              </a:ext>
            </a:extLst>
          </p:cNvPr>
          <p:cNvSpPr>
            <a:spLocks noGrp="1"/>
          </p:cNvSpPr>
          <p:nvPr>
            <p:ph type="sldNum" sz="quarter" idx="5"/>
          </p:nvPr>
        </p:nvSpPr>
        <p:spPr/>
        <p:txBody>
          <a:bodyPr/>
          <a:lstStyle/>
          <a:p>
            <a:fld id="{9B163FC3-9E18-8C4B-AF38-667357C65D14}" type="slidenum">
              <a:rPr lang="en-GB" smtClean="0"/>
              <a:t>16</a:t>
            </a:fld>
            <a:endParaRPr lang="en-GB"/>
          </a:p>
        </p:txBody>
      </p:sp>
    </p:spTree>
    <p:extLst>
      <p:ext uri="{BB962C8B-B14F-4D97-AF65-F5344CB8AC3E}">
        <p14:creationId xmlns:p14="http://schemas.microsoft.com/office/powerpoint/2010/main" val="2139146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C2704-8128-B03B-1AFC-BDF5566C4F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82C46-5FF6-943A-BDAD-31BA6C3E3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301DCC-E60B-D066-A0C6-EF21E2D3050A}"/>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6C920044-4632-AAAF-3DC5-E9B2C0124A4E}"/>
              </a:ext>
            </a:extLst>
          </p:cNvPr>
          <p:cNvSpPr>
            <a:spLocks noGrp="1"/>
          </p:cNvSpPr>
          <p:nvPr>
            <p:ph type="sldNum" sz="quarter" idx="5"/>
          </p:nvPr>
        </p:nvSpPr>
        <p:spPr/>
        <p:txBody>
          <a:bodyPr/>
          <a:lstStyle/>
          <a:p>
            <a:fld id="{9B163FC3-9E18-8C4B-AF38-667357C65D14}" type="slidenum">
              <a:rPr lang="en-GB" smtClean="0"/>
              <a:t>17</a:t>
            </a:fld>
            <a:endParaRPr lang="en-GB"/>
          </a:p>
        </p:txBody>
      </p:sp>
    </p:spTree>
    <p:extLst>
      <p:ext uri="{BB962C8B-B14F-4D97-AF65-F5344CB8AC3E}">
        <p14:creationId xmlns:p14="http://schemas.microsoft.com/office/powerpoint/2010/main" val="4074102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A1395-2D9C-555A-87F7-F9C61CE803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F650F3-0242-FF03-A417-454B035423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0BEB0-48DD-DBB0-D7A9-B46AC129A32F}"/>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1906EC26-8517-DC09-4986-5A23FB49CAD1}"/>
              </a:ext>
            </a:extLst>
          </p:cNvPr>
          <p:cNvSpPr>
            <a:spLocks noGrp="1"/>
          </p:cNvSpPr>
          <p:nvPr>
            <p:ph type="sldNum" sz="quarter" idx="5"/>
          </p:nvPr>
        </p:nvSpPr>
        <p:spPr/>
        <p:txBody>
          <a:bodyPr/>
          <a:lstStyle/>
          <a:p>
            <a:fld id="{9B163FC3-9E18-8C4B-AF38-667357C65D14}" type="slidenum">
              <a:rPr lang="en-GB" smtClean="0"/>
              <a:t>18</a:t>
            </a:fld>
            <a:endParaRPr lang="en-GB"/>
          </a:p>
        </p:txBody>
      </p:sp>
    </p:spTree>
    <p:extLst>
      <p:ext uri="{BB962C8B-B14F-4D97-AF65-F5344CB8AC3E}">
        <p14:creationId xmlns:p14="http://schemas.microsoft.com/office/powerpoint/2010/main" val="3098375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589EA-DE51-EB32-E279-71B230188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D0C750-3713-D929-161C-1CBDC80BA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6205D7-F708-09E5-6548-99344D961442}"/>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9E27682B-AF42-FCAE-9D9D-802D6EDC9874}"/>
              </a:ext>
            </a:extLst>
          </p:cNvPr>
          <p:cNvSpPr>
            <a:spLocks noGrp="1"/>
          </p:cNvSpPr>
          <p:nvPr>
            <p:ph type="sldNum" sz="quarter" idx="5"/>
          </p:nvPr>
        </p:nvSpPr>
        <p:spPr/>
        <p:txBody>
          <a:bodyPr/>
          <a:lstStyle/>
          <a:p>
            <a:fld id="{9B163FC3-9E18-8C4B-AF38-667357C65D14}" type="slidenum">
              <a:rPr lang="en-GB" smtClean="0"/>
              <a:t>19</a:t>
            </a:fld>
            <a:endParaRPr lang="en-GB"/>
          </a:p>
        </p:txBody>
      </p:sp>
    </p:spTree>
    <p:extLst>
      <p:ext uri="{BB962C8B-B14F-4D97-AF65-F5344CB8AC3E}">
        <p14:creationId xmlns:p14="http://schemas.microsoft.com/office/powerpoint/2010/main" val="9888289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E8D56-1072-C1C2-A86F-11AE846B06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D126E-B26B-ADAF-11F5-90796E1D1B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DD81D-FB48-4833-6B86-160E7C61726A}"/>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B00E05AC-630F-F51F-713C-EB86E4C80C04}"/>
              </a:ext>
            </a:extLst>
          </p:cNvPr>
          <p:cNvSpPr>
            <a:spLocks noGrp="1"/>
          </p:cNvSpPr>
          <p:nvPr>
            <p:ph type="sldNum" sz="quarter" idx="5"/>
          </p:nvPr>
        </p:nvSpPr>
        <p:spPr/>
        <p:txBody>
          <a:bodyPr/>
          <a:lstStyle/>
          <a:p>
            <a:fld id="{9B163FC3-9E18-8C4B-AF38-667357C65D14}" type="slidenum">
              <a:rPr lang="en-GB" smtClean="0"/>
              <a:t>20</a:t>
            </a:fld>
            <a:endParaRPr lang="en-GB"/>
          </a:p>
        </p:txBody>
      </p:sp>
    </p:spTree>
    <p:extLst>
      <p:ext uri="{BB962C8B-B14F-4D97-AF65-F5344CB8AC3E}">
        <p14:creationId xmlns:p14="http://schemas.microsoft.com/office/powerpoint/2010/main" val="15746278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CC53D-287F-EB78-B249-D40CF0C5B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89DA5-131E-8152-4172-DAE56CCD7D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309AAC-68EF-90D6-04D6-BEC2F37BBE4F}"/>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ACAAD9BC-EE82-78FE-D174-2FB7F7E0F213}"/>
              </a:ext>
            </a:extLst>
          </p:cNvPr>
          <p:cNvSpPr>
            <a:spLocks noGrp="1"/>
          </p:cNvSpPr>
          <p:nvPr>
            <p:ph type="sldNum" sz="quarter" idx="5"/>
          </p:nvPr>
        </p:nvSpPr>
        <p:spPr/>
        <p:txBody>
          <a:bodyPr/>
          <a:lstStyle/>
          <a:p>
            <a:fld id="{9B163FC3-9E18-8C4B-AF38-667357C65D14}" type="slidenum">
              <a:rPr lang="en-GB" smtClean="0"/>
              <a:t>21</a:t>
            </a:fld>
            <a:endParaRPr lang="en-GB"/>
          </a:p>
        </p:txBody>
      </p:sp>
    </p:spTree>
    <p:extLst>
      <p:ext uri="{BB962C8B-B14F-4D97-AF65-F5344CB8AC3E}">
        <p14:creationId xmlns:p14="http://schemas.microsoft.com/office/powerpoint/2010/main" val="34403652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27704-A1C7-0266-3B69-B7F18EAE7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C0B161-64FF-FCBD-03BD-B2404B679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303905-2DEA-AB29-1245-EEEBA2295FE7}"/>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5B7D2335-443D-533D-BB37-4613A3DFF10F}"/>
              </a:ext>
            </a:extLst>
          </p:cNvPr>
          <p:cNvSpPr>
            <a:spLocks noGrp="1"/>
          </p:cNvSpPr>
          <p:nvPr>
            <p:ph type="sldNum" sz="quarter" idx="5"/>
          </p:nvPr>
        </p:nvSpPr>
        <p:spPr/>
        <p:txBody>
          <a:bodyPr/>
          <a:lstStyle/>
          <a:p>
            <a:fld id="{9B163FC3-9E18-8C4B-AF38-667357C65D14}" type="slidenum">
              <a:rPr lang="en-GB" smtClean="0"/>
              <a:t>22</a:t>
            </a:fld>
            <a:endParaRPr lang="en-GB"/>
          </a:p>
        </p:txBody>
      </p:sp>
    </p:spTree>
    <p:extLst>
      <p:ext uri="{BB962C8B-B14F-4D97-AF65-F5344CB8AC3E}">
        <p14:creationId xmlns:p14="http://schemas.microsoft.com/office/powerpoint/2010/main" val="15570762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1364-463D-495C-5070-DFBFBF515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98E22-E990-99EA-76CC-238D38AFB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A2C47E-632C-F592-45B4-645D2E0527E6}"/>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10333BB1-F85E-8225-3E96-8DA352488603}"/>
              </a:ext>
            </a:extLst>
          </p:cNvPr>
          <p:cNvSpPr>
            <a:spLocks noGrp="1"/>
          </p:cNvSpPr>
          <p:nvPr>
            <p:ph type="sldNum" sz="quarter" idx="5"/>
          </p:nvPr>
        </p:nvSpPr>
        <p:spPr/>
        <p:txBody>
          <a:bodyPr/>
          <a:lstStyle/>
          <a:p>
            <a:fld id="{9B163FC3-9E18-8C4B-AF38-667357C65D14}" type="slidenum">
              <a:rPr lang="en-GB" smtClean="0"/>
              <a:t>23</a:t>
            </a:fld>
            <a:endParaRPr lang="en-GB"/>
          </a:p>
        </p:txBody>
      </p:sp>
    </p:spTree>
    <p:extLst>
      <p:ext uri="{BB962C8B-B14F-4D97-AF65-F5344CB8AC3E}">
        <p14:creationId xmlns:p14="http://schemas.microsoft.com/office/powerpoint/2010/main" val="1427499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11AED-5D32-2F71-532A-8DB101D0FD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82D574-003B-FB7B-C20E-4A3905143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BCD6F2-D16B-F292-569D-49DE0E9889C5}"/>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97A974F8-63F6-F484-A80F-2598B6BA92F9}"/>
              </a:ext>
            </a:extLst>
          </p:cNvPr>
          <p:cNvSpPr>
            <a:spLocks noGrp="1"/>
          </p:cNvSpPr>
          <p:nvPr>
            <p:ph type="sldNum" sz="quarter" idx="5"/>
          </p:nvPr>
        </p:nvSpPr>
        <p:spPr/>
        <p:txBody>
          <a:bodyPr/>
          <a:lstStyle/>
          <a:p>
            <a:fld id="{9B163FC3-9E18-8C4B-AF38-667357C65D14}" type="slidenum">
              <a:rPr lang="en-GB" smtClean="0"/>
              <a:t>24</a:t>
            </a:fld>
            <a:endParaRPr lang="en-GB"/>
          </a:p>
        </p:txBody>
      </p:sp>
    </p:spTree>
    <p:extLst>
      <p:ext uri="{BB962C8B-B14F-4D97-AF65-F5344CB8AC3E}">
        <p14:creationId xmlns:p14="http://schemas.microsoft.com/office/powerpoint/2010/main" val="33169135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576D1-58C7-9A37-5E70-DC1C0D5AB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D154CD-2E12-B67D-722B-FE0DF53E3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0025A-386A-8E0D-B850-9B30F1E958F9}"/>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E3B6EA8F-FCB2-9184-43EA-28ADA3774E27}"/>
              </a:ext>
            </a:extLst>
          </p:cNvPr>
          <p:cNvSpPr>
            <a:spLocks noGrp="1"/>
          </p:cNvSpPr>
          <p:nvPr>
            <p:ph type="sldNum" sz="quarter" idx="5"/>
          </p:nvPr>
        </p:nvSpPr>
        <p:spPr/>
        <p:txBody>
          <a:bodyPr/>
          <a:lstStyle/>
          <a:p>
            <a:fld id="{9B163FC3-9E18-8C4B-AF38-667357C65D14}" type="slidenum">
              <a:rPr lang="en-GB" smtClean="0"/>
              <a:t>25</a:t>
            </a:fld>
            <a:endParaRPr lang="en-GB"/>
          </a:p>
        </p:txBody>
      </p:sp>
    </p:spTree>
    <p:extLst>
      <p:ext uri="{BB962C8B-B14F-4D97-AF65-F5344CB8AC3E}">
        <p14:creationId xmlns:p14="http://schemas.microsoft.com/office/powerpoint/2010/main" val="33340593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68189-AE69-B211-EBA2-C62225C2F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39DD2-3919-5459-8642-D74E12ABCF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4676DB-3704-FCE3-F5D0-7B568DE2DBAA}"/>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178B3279-28EC-4042-5EE7-00879D68A4EC}"/>
              </a:ext>
            </a:extLst>
          </p:cNvPr>
          <p:cNvSpPr>
            <a:spLocks noGrp="1"/>
          </p:cNvSpPr>
          <p:nvPr>
            <p:ph type="sldNum" sz="quarter" idx="5"/>
          </p:nvPr>
        </p:nvSpPr>
        <p:spPr/>
        <p:txBody>
          <a:bodyPr/>
          <a:lstStyle/>
          <a:p>
            <a:fld id="{9B163FC3-9E18-8C4B-AF38-667357C65D14}" type="slidenum">
              <a:rPr lang="en-GB" smtClean="0"/>
              <a:t>26</a:t>
            </a:fld>
            <a:endParaRPr lang="en-GB"/>
          </a:p>
        </p:txBody>
      </p:sp>
    </p:spTree>
    <p:extLst>
      <p:ext uri="{BB962C8B-B14F-4D97-AF65-F5344CB8AC3E}">
        <p14:creationId xmlns:p14="http://schemas.microsoft.com/office/powerpoint/2010/main" val="10227205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0B622-CA26-24A2-4430-A869E6CAA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69C1A8-0480-B907-D449-C984453923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7EE596-F033-DA17-4D52-7DB666B15123}"/>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60A8A520-069F-40E5-3B5C-4459084EA949}"/>
              </a:ext>
            </a:extLst>
          </p:cNvPr>
          <p:cNvSpPr>
            <a:spLocks noGrp="1"/>
          </p:cNvSpPr>
          <p:nvPr>
            <p:ph type="sldNum" sz="quarter" idx="5"/>
          </p:nvPr>
        </p:nvSpPr>
        <p:spPr/>
        <p:txBody>
          <a:bodyPr/>
          <a:lstStyle/>
          <a:p>
            <a:fld id="{9B163FC3-9E18-8C4B-AF38-667357C65D14}" type="slidenum">
              <a:rPr lang="en-GB" smtClean="0"/>
              <a:t>27</a:t>
            </a:fld>
            <a:endParaRPr lang="en-GB"/>
          </a:p>
        </p:txBody>
      </p:sp>
    </p:spTree>
    <p:extLst>
      <p:ext uri="{BB962C8B-B14F-4D97-AF65-F5344CB8AC3E}">
        <p14:creationId xmlns:p14="http://schemas.microsoft.com/office/powerpoint/2010/main" val="13152594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04EE1-4B53-7D12-CB1C-6B9C76B7A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4D415-13BF-BF58-8599-C9369A754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BBFB3-2388-53BA-FD1A-880FC37EE9F5}"/>
              </a:ext>
            </a:extLst>
          </p:cNvPr>
          <p:cNvSpPr>
            <a:spLocks noGrp="1"/>
          </p:cNvSpPr>
          <p:nvPr>
            <p:ph type="body" idx="1"/>
          </p:nvPr>
        </p:nvSpPr>
        <p:spPr/>
        <p:txBody>
          <a:bodyPr/>
          <a:lstStyle/>
          <a:p>
            <a:r>
              <a:rPr lang="en-GB" dirty="0"/>
              <a:t>Minor improvements: add better BMD image, add copyright to images</a:t>
            </a:r>
          </a:p>
        </p:txBody>
      </p:sp>
      <p:sp>
        <p:nvSpPr>
          <p:cNvPr id="4" name="Slide Number Placeholder 3">
            <a:extLst>
              <a:ext uri="{FF2B5EF4-FFF2-40B4-BE49-F238E27FC236}">
                <a16:creationId xmlns:a16="http://schemas.microsoft.com/office/drawing/2014/main" id="{AB6D6A80-9535-BEE0-6CCC-128450692F70}"/>
              </a:ext>
            </a:extLst>
          </p:cNvPr>
          <p:cNvSpPr>
            <a:spLocks noGrp="1"/>
          </p:cNvSpPr>
          <p:nvPr>
            <p:ph type="sldNum" sz="quarter" idx="5"/>
          </p:nvPr>
        </p:nvSpPr>
        <p:spPr/>
        <p:txBody>
          <a:bodyPr/>
          <a:lstStyle/>
          <a:p>
            <a:fld id="{9B163FC3-9E18-8C4B-AF38-667357C65D14}" type="slidenum">
              <a:rPr lang="en-GB" smtClean="0"/>
              <a:t>28</a:t>
            </a:fld>
            <a:endParaRPr lang="en-GB"/>
          </a:p>
        </p:txBody>
      </p:sp>
    </p:spTree>
    <p:extLst>
      <p:ext uri="{BB962C8B-B14F-4D97-AF65-F5344CB8AC3E}">
        <p14:creationId xmlns:p14="http://schemas.microsoft.com/office/powerpoint/2010/main" val="528435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5C34C-0AC2-1191-C002-047C3D70CEB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001A2938-DF02-9480-B50E-31C28AF39A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7047377D-53C9-EC23-DD2C-2E7D700802DD}"/>
              </a:ext>
            </a:extLst>
          </p:cNvPr>
          <p:cNvSpPr>
            <a:spLocks noGrp="1"/>
          </p:cNvSpPr>
          <p:nvPr>
            <p:ph type="dt" sz="half" idx="10"/>
          </p:nvPr>
        </p:nvSpPr>
        <p:spPr/>
        <p:txBody>
          <a:bodyPr/>
          <a:lstStyle/>
          <a:p>
            <a:fld id="{05D256C5-8EB9-5744-B4B8-D26B67A0DF0D}" type="datetimeFigureOut">
              <a:rPr lang="en-GB" smtClean="0"/>
              <a:t>14/10/2026</a:t>
            </a:fld>
            <a:endParaRPr lang="en-GB"/>
          </a:p>
        </p:txBody>
      </p:sp>
      <p:sp>
        <p:nvSpPr>
          <p:cNvPr id="5" name="Footer Placeholder 4">
            <a:extLst>
              <a:ext uri="{FF2B5EF4-FFF2-40B4-BE49-F238E27FC236}">
                <a16:creationId xmlns:a16="http://schemas.microsoft.com/office/drawing/2014/main" id="{882A19AE-D05B-FBE6-E170-6896E3DC5D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1A8EF30-CADF-CA14-868E-B303C85F76DF}"/>
              </a:ext>
            </a:extLst>
          </p:cNvPr>
          <p:cNvSpPr>
            <a:spLocks noGrp="1"/>
          </p:cNvSpPr>
          <p:nvPr>
            <p:ph type="sldNum" sz="quarter" idx="12"/>
          </p:nvPr>
        </p:nvSpPr>
        <p:spPr/>
        <p:txBody>
          <a:bodyPr/>
          <a:lstStyle/>
          <a:p>
            <a:fld id="{559546EC-5595-B040-9472-745256DE28C5}" type="slidenum">
              <a:rPr lang="en-GB" smtClean="0"/>
              <a:t>‹#›</a:t>
            </a:fld>
            <a:endParaRPr lang="en-GB"/>
          </a:p>
        </p:txBody>
      </p:sp>
    </p:spTree>
    <p:extLst>
      <p:ext uri="{BB962C8B-B14F-4D97-AF65-F5344CB8AC3E}">
        <p14:creationId xmlns:p14="http://schemas.microsoft.com/office/powerpoint/2010/main" val="819373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E1E0C-EE8A-E4CF-C302-30E890EA0D8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DD41F1C7-B9B2-EBF3-7AA5-1FCFEBE4AB1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E44E5D7-7E01-0F05-C9C3-18BB4F95A0B2}"/>
              </a:ext>
            </a:extLst>
          </p:cNvPr>
          <p:cNvSpPr>
            <a:spLocks noGrp="1"/>
          </p:cNvSpPr>
          <p:nvPr>
            <p:ph type="dt" sz="half" idx="10"/>
          </p:nvPr>
        </p:nvSpPr>
        <p:spPr/>
        <p:txBody>
          <a:bodyPr/>
          <a:lstStyle/>
          <a:p>
            <a:fld id="{05D256C5-8EB9-5744-B4B8-D26B67A0DF0D}" type="datetimeFigureOut">
              <a:rPr lang="en-GB" smtClean="0"/>
              <a:t>14/10/2026</a:t>
            </a:fld>
            <a:endParaRPr lang="en-GB"/>
          </a:p>
        </p:txBody>
      </p:sp>
      <p:sp>
        <p:nvSpPr>
          <p:cNvPr id="5" name="Footer Placeholder 4">
            <a:extLst>
              <a:ext uri="{FF2B5EF4-FFF2-40B4-BE49-F238E27FC236}">
                <a16:creationId xmlns:a16="http://schemas.microsoft.com/office/drawing/2014/main" id="{C4070A2A-DF8A-AFE0-0499-A6E12BF2936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02A4B70-74E3-8A8A-4FBF-4E30E2B2AF42}"/>
              </a:ext>
            </a:extLst>
          </p:cNvPr>
          <p:cNvSpPr>
            <a:spLocks noGrp="1"/>
          </p:cNvSpPr>
          <p:nvPr>
            <p:ph type="sldNum" sz="quarter" idx="12"/>
          </p:nvPr>
        </p:nvSpPr>
        <p:spPr/>
        <p:txBody>
          <a:bodyPr/>
          <a:lstStyle/>
          <a:p>
            <a:fld id="{559546EC-5595-B040-9472-745256DE28C5}" type="slidenum">
              <a:rPr lang="en-GB" smtClean="0"/>
              <a:t>‹#›</a:t>
            </a:fld>
            <a:endParaRPr lang="en-GB"/>
          </a:p>
        </p:txBody>
      </p:sp>
    </p:spTree>
    <p:extLst>
      <p:ext uri="{BB962C8B-B14F-4D97-AF65-F5344CB8AC3E}">
        <p14:creationId xmlns:p14="http://schemas.microsoft.com/office/powerpoint/2010/main" val="1146953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6574C-E8FA-316C-FAA1-8662E65B6C9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688D2551-15EA-3AA4-AAE7-B6D3D84F6A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B35157-B9D0-6B68-A440-4DD488B9E95B}"/>
              </a:ext>
            </a:extLst>
          </p:cNvPr>
          <p:cNvSpPr>
            <a:spLocks noGrp="1"/>
          </p:cNvSpPr>
          <p:nvPr>
            <p:ph type="dt" sz="half" idx="10"/>
          </p:nvPr>
        </p:nvSpPr>
        <p:spPr/>
        <p:txBody>
          <a:bodyPr/>
          <a:lstStyle/>
          <a:p>
            <a:fld id="{05D256C5-8EB9-5744-B4B8-D26B67A0DF0D}" type="datetimeFigureOut">
              <a:rPr lang="en-GB" smtClean="0"/>
              <a:t>14/10/2026</a:t>
            </a:fld>
            <a:endParaRPr lang="en-GB"/>
          </a:p>
        </p:txBody>
      </p:sp>
      <p:sp>
        <p:nvSpPr>
          <p:cNvPr id="5" name="Footer Placeholder 4">
            <a:extLst>
              <a:ext uri="{FF2B5EF4-FFF2-40B4-BE49-F238E27FC236}">
                <a16:creationId xmlns:a16="http://schemas.microsoft.com/office/drawing/2014/main" id="{B2728595-44D2-E50B-8B0A-81BFAD222B1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201E7B9-541D-ED85-C8B7-94AC358EA3F5}"/>
              </a:ext>
            </a:extLst>
          </p:cNvPr>
          <p:cNvSpPr>
            <a:spLocks noGrp="1"/>
          </p:cNvSpPr>
          <p:nvPr>
            <p:ph type="sldNum" sz="quarter" idx="12"/>
          </p:nvPr>
        </p:nvSpPr>
        <p:spPr/>
        <p:txBody>
          <a:bodyPr/>
          <a:lstStyle/>
          <a:p>
            <a:fld id="{559546EC-5595-B040-9472-745256DE28C5}" type="slidenum">
              <a:rPr lang="en-GB" smtClean="0"/>
              <a:t>‹#›</a:t>
            </a:fld>
            <a:endParaRPr lang="en-GB"/>
          </a:p>
        </p:txBody>
      </p:sp>
    </p:spTree>
    <p:extLst>
      <p:ext uri="{BB962C8B-B14F-4D97-AF65-F5344CB8AC3E}">
        <p14:creationId xmlns:p14="http://schemas.microsoft.com/office/powerpoint/2010/main" val="1920614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545AC-1B3F-04DD-A435-E1E41E6A286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593282C-269B-1DC6-77C8-5990E2D32DB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BB22EB52-5A3B-96CC-C3D9-F48DE736757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EF1F767F-4B60-C417-8BF7-392D5355039B}"/>
              </a:ext>
            </a:extLst>
          </p:cNvPr>
          <p:cNvSpPr>
            <a:spLocks noGrp="1"/>
          </p:cNvSpPr>
          <p:nvPr>
            <p:ph type="dt" sz="half" idx="10"/>
          </p:nvPr>
        </p:nvSpPr>
        <p:spPr/>
        <p:txBody>
          <a:bodyPr/>
          <a:lstStyle/>
          <a:p>
            <a:fld id="{05D256C5-8EB9-5744-B4B8-D26B67A0DF0D}" type="datetimeFigureOut">
              <a:rPr lang="en-GB" smtClean="0"/>
              <a:t>14/10/2026</a:t>
            </a:fld>
            <a:endParaRPr lang="en-GB"/>
          </a:p>
        </p:txBody>
      </p:sp>
      <p:sp>
        <p:nvSpPr>
          <p:cNvPr id="6" name="Footer Placeholder 5">
            <a:extLst>
              <a:ext uri="{FF2B5EF4-FFF2-40B4-BE49-F238E27FC236}">
                <a16:creationId xmlns:a16="http://schemas.microsoft.com/office/drawing/2014/main" id="{0416B049-69B6-903B-15C8-637E37A6EB2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A559F00-E858-2AA0-C21C-82CDA1FB5F83}"/>
              </a:ext>
            </a:extLst>
          </p:cNvPr>
          <p:cNvSpPr>
            <a:spLocks noGrp="1"/>
          </p:cNvSpPr>
          <p:nvPr>
            <p:ph type="sldNum" sz="quarter" idx="12"/>
          </p:nvPr>
        </p:nvSpPr>
        <p:spPr/>
        <p:txBody>
          <a:bodyPr/>
          <a:lstStyle/>
          <a:p>
            <a:fld id="{559546EC-5595-B040-9472-745256DE28C5}" type="slidenum">
              <a:rPr lang="en-GB" smtClean="0"/>
              <a:t>‹#›</a:t>
            </a:fld>
            <a:endParaRPr lang="en-GB"/>
          </a:p>
        </p:txBody>
      </p:sp>
    </p:spTree>
    <p:extLst>
      <p:ext uri="{BB962C8B-B14F-4D97-AF65-F5344CB8AC3E}">
        <p14:creationId xmlns:p14="http://schemas.microsoft.com/office/powerpoint/2010/main" val="320526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95CDA-16DB-3950-A39A-290B8EA9EB59}"/>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FF4C2CFD-397F-4F3C-1CEE-F25044F75C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A6EB2C5-0B82-4704-BF6B-607DF70E542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EB67708-0CAE-7260-6871-B17AEA7FD4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00C0243-2DE6-0B01-EE3F-06EC6A7FEAE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38DB1F1F-E521-805B-2698-B790B6439E90}"/>
              </a:ext>
            </a:extLst>
          </p:cNvPr>
          <p:cNvSpPr>
            <a:spLocks noGrp="1"/>
          </p:cNvSpPr>
          <p:nvPr>
            <p:ph type="dt" sz="half" idx="10"/>
          </p:nvPr>
        </p:nvSpPr>
        <p:spPr/>
        <p:txBody>
          <a:bodyPr/>
          <a:lstStyle/>
          <a:p>
            <a:fld id="{05D256C5-8EB9-5744-B4B8-D26B67A0DF0D}" type="datetimeFigureOut">
              <a:rPr lang="en-GB" smtClean="0"/>
              <a:t>14/10/2026</a:t>
            </a:fld>
            <a:endParaRPr lang="en-GB"/>
          </a:p>
        </p:txBody>
      </p:sp>
      <p:sp>
        <p:nvSpPr>
          <p:cNvPr id="8" name="Footer Placeholder 7">
            <a:extLst>
              <a:ext uri="{FF2B5EF4-FFF2-40B4-BE49-F238E27FC236}">
                <a16:creationId xmlns:a16="http://schemas.microsoft.com/office/drawing/2014/main" id="{2D52AD05-D04D-534A-EC4A-E13C4A11991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1BB1C10-CFD7-CC5E-6D23-62D6341E12CE}"/>
              </a:ext>
            </a:extLst>
          </p:cNvPr>
          <p:cNvSpPr>
            <a:spLocks noGrp="1"/>
          </p:cNvSpPr>
          <p:nvPr>
            <p:ph type="sldNum" sz="quarter" idx="12"/>
          </p:nvPr>
        </p:nvSpPr>
        <p:spPr/>
        <p:txBody>
          <a:bodyPr/>
          <a:lstStyle/>
          <a:p>
            <a:fld id="{559546EC-5595-B040-9472-745256DE28C5}" type="slidenum">
              <a:rPr lang="en-GB" smtClean="0"/>
              <a:t>‹#›</a:t>
            </a:fld>
            <a:endParaRPr lang="en-GB"/>
          </a:p>
        </p:txBody>
      </p:sp>
    </p:spTree>
    <p:extLst>
      <p:ext uri="{BB962C8B-B14F-4D97-AF65-F5344CB8AC3E}">
        <p14:creationId xmlns:p14="http://schemas.microsoft.com/office/powerpoint/2010/main" val="1726662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6E214-5566-F6A2-7AE0-659C55B904DB}"/>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FE589411-AEDF-EAE2-B441-3218685C9B31}"/>
              </a:ext>
            </a:extLst>
          </p:cNvPr>
          <p:cNvSpPr>
            <a:spLocks noGrp="1"/>
          </p:cNvSpPr>
          <p:nvPr>
            <p:ph type="dt" sz="half" idx="10"/>
          </p:nvPr>
        </p:nvSpPr>
        <p:spPr/>
        <p:txBody>
          <a:bodyPr/>
          <a:lstStyle/>
          <a:p>
            <a:fld id="{05D256C5-8EB9-5744-B4B8-D26B67A0DF0D}" type="datetimeFigureOut">
              <a:rPr lang="en-GB" smtClean="0"/>
              <a:t>14/10/2026</a:t>
            </a:fld>
            <a:endParaRPr lang="en-GB"/>
          </a:p>
        </p:txBody>
      </p:sp>
      <p:sp>
        <p:nvSpPr>
          <p:cNvPr id="4" name="Footer Placeholder 3">
            <a:extLst>
              <a:ext uri="{FF2B5EF4-FFF2-40B4-BE49-F238E27FC236}">
                <a16:creationId xmlns:a16="http://schemas.microsoft.com/office/drawing/2014/main" id="{082E8DF1-8AA2-4BCB-83A1-4C0CCB9A7A5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A210B72-A12D-4ECD-96F4-8B4C299ED66D}"/>
              </a:ext>
            </a:extLst>
          </p:cNvPr>
          <p:cNvSpPr>
            <a:spLocks noGrp="1"/>
          </p:cNvSpPr>
          <p:nvPr>
            <p:ph type="sldNum" sz="quarter" idx="12"/>
          </p:nvPr>
        </p:nvSpPr>
        <p:spPr/>
        <p:txBody>
          <a:bodyPr/>
          <a:lstStyle/>
          <a:p>
            <a:fld id="{559546EC-5595-B040-9472-745256DE28C5}" type="slidenum">
              <a:rPr lang="en-GB" smtClean="0"/>
              <a:t>‹#›</a:t>
            </a:fld>
            <a:endParaRPr lang="en-GB"/>
          </a:p>
        </p:txBody>
      </p:sp>
    </p:spTree>
    <p:extLst>
      <p:ext uri="{BB962C8B-B14F-4D97-AF65-F5344CB8AC3E}">
        <p14:creationId xmlns:p14="http://schemas.microsoft.com/office/powerpoint/2010/main" val="876533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447179-4A11-0B70-DAB3-F306BEE9F590}"/>
              </a:ext>
            </a:extLst>
          </p:cNvPr>
          <p:cNvSpPr>
            <a:spLocks noGrp="1"/>
          </p:cNvSpPr>
          <p:nvPr>
            <p:ph type="dt" sz="half" idx="10"/>
          </p:nvPr>
        </p:nvSpPr>
        <p:spPr/>
        <p:txBody>
          <a:bodyPr/>
          <a:lstStyle/>
          <a:p>
            <a:fld id="{05D256C5-8EB9-5744-B4B8-D26B67A0DF0D}" type="datetimeFigureOut">
              <a:rPr lang="en-GB" smtClean="0"/>
              <a:t>14/10/2026</a:t>
            </a:fld>
            <a:endParaRPr lang="en-GB"/>
          </a:p>
        </p:txBody>
      </p:sp>
      <p:sp>
        <p:nvSpPr>
          <p:cNvPr id="3" name="Footer Placeholder 2">
            <a:extLst>
              <a:ext uri="{FF2B5EF4-FFF2-40B4-BE49-F238E27FC236}">
                <a16:creationId xmlns:a16="http://schemas.microsoft.com/office/drawing/2014/main" id="{416A37C9-6E9B-2A77-5392-D653A197C1C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CF0E233-E6DC-9364-E89E-02E437076602}"/>
              </a:ext>
            </a:extLst>
          </p:cNvPr>
          <p:cNvSpPr>
            <a:spLocks noGrp="1"/>
          </p:cNvSpPr>
          <p:nvPr>
            <p:ph type="sldNum" sz="quarter" idx="12"/>
          </p:nvPr>
        </p:nvSpPr>
        <p:spPr/>
        <p:txBody>
          <a:bodyPr/>
          <a:lstStyle/>
          <a:p>
            <a:fld id="{559546EC-5595-B040-9472-745256DE28C5}" type="slidenum">
              <a:rPr lang="en-GB" smtClean="0"/>
              <a:t>‹#›</a:t>
            </a:fld>
            <a:endParaRPr lang="en-GB"/>
          </a:p>
        </p:txBody>
      </p:sp>
    </p:spTree>
    <p:extLst>
      <p:ext uri="{BB962C8B-B14F-4D97-AF65-F5344CB8AC3E}">
        <p14:creationId xmlns:p14="http://schemas.microsoft.com/office/powerpoint/2010/main" val="79036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78E06-DD3B-F0B0-2C39-19230C4B82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972020F8-34D7-9E5C-AD3F-45377B5651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23A6592-CB0D-45C9-AF95-D477B2B642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26A0AD8-CC4C-3E82-0A8C-EEF36177CA56}"/>
              </a:ext>
            </a:extLst>
          </p:cNvPr>
          <p:cNvSpPr>
            <a:spLocks noGrp="1"/>
          </p:cNvSpPr>
          <p:nvPr>
            <p:ph type="dt" sz="half" idx="10"/>
          </p:nvPr>
        </p:nvSpPr>
        <p:spPr/>
        <p:txBody>
          <a:bodyPr/>
          <a:lstStyle/>
          <a:p>
            <a:fld id="{05D256C5-8EB9-5744-B4B8-D26B67A0DF0D}" type="datetimeFigureOut">
              <a:rPr lang="en-GB" smtClean="0"/>
              <a:t>14/10/2026</a:t>
            </a:fld>
            <a:endParaRPr lang="en-GB"/>
          </a:p>
        </p:txBody>
      </p:sp>
      <p:sp>
        <p:nvSpPr>
          <p:cNvPr id="6" name="Footer Placeholder 5">
            <a:extLst>
              <a:ext uri="{FF2B5EF4-FFF2-40B4-BE49-F238E27FC236}">
                <a16:creationId xmlns:a16="http://schemas.microsoft.com/office/drawing/2014/main" id="{1EE2F7A6-0640-A147-2A8B-AC6CD6AF5D0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80467CD-1292-477C-981F-F2CE148F2259}"/>
              </a:ext>
            </a:extLst>
          </p:cNvPr>
          <p:cNvSpPr>
            <a:spLocks noGrp="1"/>
          </p:cNvSpPr>
          <p:nvPr>
            <p:ph type="sldNum" sz="quarter" idx="12"/>
          </p:nvPr>
        </p:nvSpPr>
        <p:spPr/>
        <p:txBody>
          <a:bodyPr/>
          <a:lstStyle/>
          <a:p>
            <a:fld id="{559546EC-5595-B040-9472-745256DE28C5}" type="slidenum">
              <a:rPr lang="en-GB" smtClean="0"/>
              <a:t>‹#›</a:t>
            </a:fld>
            <a:endParaRPr lang="en-GB"/>
          </a:p>
        </p:txBody>
      </p:sp>
    </p:spTree>
    <p:extLst>
      <p:ext uri="{BB962C8B-B14F-4D97-AF65-F5344CB8AC3E}">
        <p14:creationId xmlns:p14="http://schemas.microsoft.com/office/powerpoint/2010/main" val="2232730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49BB6-6110-E947-D41F-4671003F85B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8070CE22-A6F5-74BF-EA7A-E539E0DAEB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E8AE0C8-1455-0DF5-A852-CA8ABD933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BEBA59D-E057-3190-CA69-0BBF67B6A701}"/>
              </a:ext>
            </a:extLst>
          </p:cNvPr>
          <p:cNvSpPr>
            <a:spLocks noGrp="1"/>
          </p:cNvSpPr>
          <p:nvPr>
            <p:ph type="dt" sz="half" idx="10"/>
          </p:nvPr>
        </p:nvSpPr>
        <p:spPr/>
        <p:txBody>
          <a:bodyPr/>
          <a:lstStyle/>
          <a:p>
            <a:fld id="{05D256C5-8EB9-5744-B4B8-D26B67A0DF0D}" type="datetimeFigureOut">
              <a:rPr lang="en-GB" smtClean="0"/>
              <a:t>14/10/2026</a:t>
            </a:fld>
            <a:endParaRPr lang="en-GB"/>
          </a:p>
        </p:txBody>
      </p:sp>
      <p:sp>
        <p:nvSpPr>
          <p:cNvPr id="6" name="Footer Placeholder 5">
            <a:extLst>
              <a:ext uri="{FF2B5EF4-FFF2-40B4-BE49-F238E27FC236}">
                <a16:creationId xmlns:a16="http://schemas.microsoft.com/office/drawing/2014/main" id="{89D9DF68-AEC1-F516-576A-E474807D072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4C78E8-AECF-876A-251F-AB935E78FF02}"/>
              </a:ext>
            </a:extLst>
          </p:cNvPr>
          <p:cNvSpPr>
            <a:spLocks noGrp="1"/>
          </p:cNvSpPr>
          <p:nvPr>
            <p:ph type="sldNum" sz="quarter" idx="12"/>
          </p:nvPr>
        </p:nvSpPr>
        <p:spPr/>
        <p:txBody>
          <a:bodyPr/>
          <a:lstStyle/>
          <a:p>
            <a:fld id="{559546EC-5595-B040-9472-745256DE28C5}" type="slidenum">
              <a:rPr lang="en-GB" smtClean="0"/>
              <a:t>‹#›</a:t>
            </a:fld>
            <a:endParaRPr lang="en-GB"/>
          </a:p>
        </p:txBody>
      </p:sp>
    </p:spTree>
    <p:extLst>
      <p:ext uri="{BB962C8B-B14F-4D97-AF65-F5344CB8AC3E}">
        <p14:creationId xmlns:p14="http://schemas.microsoft.com/office/powerpoint/2010/main" val="3511569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01B51-BE7D-D284-FF19-AD8503C09A7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124E9A1E-693E-4813-3CDE-4FDC8149A29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60DB637-FA72-35AF-B929-E5DA9049CB8F}"/>
              </a:ext>
            </a:extLst>
          </p:cNvPr>
          <p:cNvSpPr>
            <a:spLocks noGrp="1"/>
          </p:cNvSpPr>
          <p:nvPr>
            <p:ph type="dt" sz="half" idx="10"/>
          </p:nvPr>
        </p:nvSpPr>
        <p:spPr/>
        <p:txBody>
          <a:bodyPr/>
          <a:lstStyle/>
          <a:p>
            <a:fld id="{05D256C5-8EB9-5744-B4B8-D26B67A0DF0D}" type="datetimeFigureOut">
              <a:rPr lang="en-GB" smtClean="0"/>
              <a:t>14/10/2026</a:t>
            </a:fld>
            <a:endParaRPr lang="en-GB"/>
          </a:p>
        </p:txBody>
      </p:sp>
      <p:sp>
        <p:nvSpPr>
          <p:cNvPr id="5" name="Footer Placeholder 4">
            <a:extLst>
              <a:ext uri="{FF2B5EF4-FFF2-40B4-BE49-F238E27FC236}">
                <a16:creationId xmlns:a16="http://schemas.microsoft.com/office/drawing/2014/main" id="{6DC6D579-B38A-E2EA-BD94-01A449B7A2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AF3EE4F-811B-F62C-18C9-CB24CC2FFDB3}"/>
              </a:ext>
            </a:extLst>
          </p:cNvPr>
          <p:cNvSpPr>
            <a:spLocks noGrp="1"/>
          </p:cNvSpPr>
          <p:nvPr>
            <p:ph type="sldNum" sz="quarter" idx="12"/>
          </p:nvPr>
        </p:nvSpPr>
        <p:spPr/>
        <p:txBody>
          <a:bodyPr/>
          <a:lstStyle/>
          <a:p>
            <a:fld id="{559546EC-5595-B040-9472-745256DE28C5}" type="slidenum">
              <a:rPr lang="en-GB" smtClean="0"/>
              <a:t>‹#›</a:t>
            </a:fld>
            <a:endParaRPr lang="en-GB"/>
          </a:p>
        </p:txBody>
      </p:sp>
    </p:spTree>
    <p:extLst>
      <p:ext uri="{BB962C8B-B14F-4D97-AF65-F5344CB8AC3E}">
        <p14:creationId xmlns:p14="http://schemas.microsoft.com/office/powerpoint/2010/main" val="3025555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E11D38-1EF0-7D5F-FFA7-1A9C2F15BC2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41298B-B12F-7FC9-3114-68D7C971C1F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B4E0805-7003-1E91-B903-8822CD49A6A7}"/>
              </a:ext>
            </a:extLst>
          </p:cNvPr>
          <p:cNvSpPr>
            <a:spLocks noGrp="1"/>
          </p:cNvSpPr>
          <p:nvPr>
            <p:ph type="dt" sz="half" idx="10"/>
          </p:nvPr>
        </p:nvSpPr>
        <p:spPr/>
        <p:txBody>
          <a:bodyPr/>
          <a:lstStyle/>
          <a:p>
            <a:fld id="{05D256C5-8EB9-5744-B4B8-D26B67A0DF0D}" type="datetimeFigureOut">
              <a:rPr lang="en-GB" smtClean="0"/>
              <a:t>14/10/2026</a:t>
            </a:fld>
            <a:endParaRPr lang="en-GB"/>
          </a:p>
        </p:txBody>
      </p:sp>
      <p:sp>
        <p:nvSpPr>
          <p:cNvPr id="5" name="Footer Placeholder 4">
            <a:extLst>
              <a:ext uri="{FF2B5EF4-FFF2-40B4-BE49-F238E27FC236}">
                <a16:creationId xmlns:a16="http://schemas.microsoft.com/office/drawing/2014/main" id="{88A3ED6B-C216-570E-4DD7-17C1E7CE695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2BA084F-A472-633E-9BAA-706CEA2C25B5}"/>
              </a:ext>
            </a:extLst>
          </p:cNvPr>
          <p:cNvSpPr>
            <a:spLocks noGrp="1"/>
          </p:cNvSpPr>
          <p:nvPr>
            <p:ph type="sldNum" sz="quarter" idx="12"/>
          </p:nvPr>
        </p:nvSpPr>
        <p:spPr/>
        <p:txBody>
          <a:bodyPr/>
          <a:lstStyle/>
          <a:p>
            <a:fld id="{559546EC-5595-B040-9472-745256DE28C5}" type="slidenum">
              <a:rPr lang="en-GB" smtClean="0"/>
              <a:t>‹#›</a:t>
            </a:fld>
            <a:endParaRPr lang="en-GB"/>
          </a:p>
        </p:txBody>
      </p:sp>
    </p:spTree>
    <p:extLst>
      <p:ext uri="{BB962C8B-B14F-4D97-AF65-F5344CB8AC3E}">
        <p14:creationId xmlns:p14="http://schemas.microsoft.com/office/powerpoint/2010/main" val="557630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A3722C-AE69-8953-AB62-349CC838B2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10506121-96DF-0B51-BF40-09A5FC603F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06C3692-AC13-3812-7CBF-1A5A74DE1D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D256C5-8EB9-5744-B4B8-D26B67A0DF0D}" type="datetimeFigureOut">
              <a:rPr lang="en-GB" smtClean="0"/>
              <a:t>14/10/2026</a:t>
            </a:fld>
            <a:endParaRPr lang="en-GB"/>
          </a:p>
        </p:txBody>
      </p:sp>
      <p:sp>
        <p:nvSpPr>
          <p:cNvPr id="5" name="Footer Placeholder 4">
            <a:extLst>
              <a:ext uri="{FF2B5EF4-FFF2-40B4-BE49-F238E27FC236}">
                <a16:creationId xmlns:a16="http://schemas.microsoft.com/office/drawing/2014/main" id="{A8862336-CC3F-B6DA-DFD6-77ABE50A5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1568D8D-CBA8-2351-B15E-E674F4EF28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9546EC-5595-B040-9472-745256DE28C5}" type="slidenum">
              <a:rPr lang="en-GB" smtClean="0"/>
              <a:t>‹#›</a:t>
            </a:fld>
            <a:endParaRPr lang="en-GB"/>
          </a:p>
        </p:txBody>
      </p:sp>
    </p:spTree>
    <p:extLst>
      <p:ext uri="{BB962C8B-B14F-4D97-AF65-F5344CB8AC3E}">
        <p14:creationId xmlns:p14="http://schemas.microsoft.com/office/powerpoint/2010/main" val="4187752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doi.org/10.1038/nrmicro2761"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doi.org/10.1038/nrmicro2761"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8.jp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721018-508F-482E-ECC1-F4251E4A775A}"/>
              </a:ext>
            </a:extLst>
          </p:cNvPr>
          <p:cNvSpPr txBox="1"/>
          <p:nvPr/>
        </p:nvSpPr>
        <p:spPr>
          <a:xfrm>
            <a:off x="734289" y="404195"/>
            <a:ext cx="10227494" cy="954107"/>
          </a:xfrm>
          <a:prstGeom prst="rect">
            <a:avLst/>
          </a:prstGeom>
          <a:noFill/>
        </p:spPr>
        <p:txBody>
          <a:bodyPr wrap="square">
            <a:spAutoFit/>
          </a:bodyPr>
          <a:lstStyle/>
          <a:p>
            <a:r>
              <a:rPr lang="en-GB" sz="2800" b="1" dirty="0">
                <a:latin typeface="Helvetica" pitchFamily="2" charset="0"/>
              </a:rPr>
              <a:t>Interpretation of AMR reports: case studies </a:t>
            </a:r>
          </a:p>
          <a:p>
            <a:endParaRPr lang="en-GB" sz="2800" b="1" dirty="0">
              <a:latin typeface="Helvetica" pitchFamily="2" charset="0"/>
            </a:endParaRPr>
          </a:p>
        </p:txBody>
      </p:sp>
      <p:sp>
        <p:nvSpPr>
          <p:cNvPr id="2" name="TextBox 1">
            <a:extLst>
              <a:ext uri="{FF2B5EF4-FFF2-40B4-BE49-F238E27FC236}">
                <a16:creationId xmlns:a16="http://schemas.microsoft.com/office/drawing/2014/main" id="{50606C94-AD2D-8317-4B5F-515BC6B5FF3B}"/>
              </a:ext>
            </a:extLst>
          </p:cNvPr>
          <p:cNvSpPr txBox="1"/>
          <p:nvPr/>
        </p:nvSpPr>
        <p:spPr>
          <a:xfrm>
            <a:off x="734289" y="1115086"/>
            <a:ext cx="10848110" cy="2246769"/>
          </a:xfrm>
          <a:prstGeom prst="rect">
            <a:avLst/>
          </a:prstGeom>
          <a:noFill/>
        </p:spPr>
        <p:txBody>
          <a:bodyPr wrap="square">
            <a:spAutoFit/>
          </a:bodyPr>
          <a:lstStyle/>
          <a:p>
            <a:pPr lvl="0"/>
            <a:r>
              <a:rPr lang="en-GB" sz="2000" dirty="0"/>
              <a:t>Case study 1: Identifying linezolid-resistance point mutations from </a:t>
            </a:r>
            <a:r>
              <a:rPr lang="en-GB" sz="2000" i="1" dirty="0"/>
              <a:t>Enterococcus faecium </a:t>
            </a:r>
            <a:r>
              <a:rPr lang="en-GB" sz="2000" dirty="0"/>
              <a:t>genomes</a:t>
            </a:r>
          </a:p>
          <a:p>
            <a:pPr lvl="0"/>
            <a:endParaRPr lang="en-GB" sz="2000" dirty="0"/>
          </a:p>
          <a:p>
            <a:pPr lvl="0"/>
            <a:r>
              <a:rPr lang="en-GB" sz="2000" dirty="0"/>
              <a:t>Case study 2: Effect of duplicated and truncated AMR genes on genotypic AMR determination</a:t>
            </a:r>
          </a:p>
          <a:p>
            <a:pPr lvl="0"/>
            <a:endParaRPr lang="en-GB" sz="2000" dirty="0"/>
          </a:p>
          <a:p>
            <a:pPr lvl="0"/>
            <a:r>
              <a:rPr lang="en-GB" sz="2000" dirty="0"/>
              <a:t>Case study 3. Resolving AMR phenotype-genotype discrepancies from Salmonella enterica genomes</a:t>
            </a:r>
          </a:p>
        </p:txBody>
      </p:sp>
      <p:sp>
        <p:nvSpPr>
          <p:cNvPr id="3" name="Slide Number Placeholder 2">
            <a:extLst>
              <a:ext uri="{FF2B5EF4-FFF2-40B4-BE49-F238E27FC236}">
                <a16:creationId xmlns:a16="http://schemas.microsoft.com/office/drawing/2014/main" id="{54B94294-DCAD-AEC8-DB34-175A4315B8B7}"/>
              </a:ext>
            </a:extLst>
          </p:cNvPr>
          <p:cNvSpPr>
            <a:spLocks noGrp="1"/>
          </p:cNvSpPr>
          <p:nvPr>
            <p:ph type="sldNum" sz="quarter" idx="12"/>
          </p:nvPr>
        </p:nvSpPr>
        <p:spPr/>
        <p:txBody>
          <a:bodyPr/>
          <a:lstStyle/>
          <a:p>
            <a:fld id="{75AEF4DF-2886-834E-8BD5-00D5F339C13C}" type="slidenum">
              <a:rPr lang="en-GB" smtClean="0"/>
              <a:t>1</a:t>
            </a:fld>
            <a:endParaRPr lang="en-GB"/>
          </a:p>
        </p:txBody>
      </p:sp>
    </p:spTree>
    <p:extLst>
      <p:ext uri="{BB962C8B-B14F-4D97-AF65-F5344CB8AC3E}">
        <p14:creationId xmlns:p14="http://schemas.microsoft.com/office/powerpoint/2010/main" val="432998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7E2BF-A2AC-F1B7-66D5-F167EA4794A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80B7857-7C40-BD95-1F75-E38AFF48D366}"/>
              </a:ext>
            </a:extLst>
          </p:cNvPr>
          <p:cNvSpPr>
            <a:spLocks noGrp="1"/>
          </p:cNvSpPr>
          <p:nvPr>
            <p:ph type="sldNum" sz="quarter" idx="12"/>
          </p:nvPr>
        </p:nvSpPr>
        <p:spPr/>
        <p:txBody>
          <a:bodyPr/>
          <a:lstStyle/>
          <a:p>
            <a:fld id="{75AEF4DF-2886-834E-8BD5-00D5F339C13C}" type="slidenum">
              <a:rPr lang="en-GB" smtClean="0"/>
              <a:t>2</a:t>
            </a:fld>
            <a:endParaRPr lang="en-GB"/>
          </a:p>
        </p:txBody>
      </p:sp>
      <p:pic>
        <p:nvPicPr>
          <p:cNvPr id="2" name="Picture 1" descr="Figure 4: Main mechanisms of enterococcal antibiotic resistance.">
            <a:extLst>
              <a:ext uri="{FF2B5EF4-FFF2-40B4-BE49-F238E27FC236}">
                <a16:creationId xmlns:a16="http://schemas.microsoft.com/office/drawing/2014/main" id="{BD5290D7-C2BE-5DED-978D-461DA3DCE660}"/>
              </a:ext>
            </a:extLst>
          </p:cNvPr>
          <p:cNvPicPr>
            <a:picLocks noChangeAspect="1"/>
          </p:cNvPicPr>
          <p:nvPr/>
        </p:nvPicPr>
        <p:blipFill>
          <a:blip r:embed="rId3"/>
          <a:stretch>
            <a:fillRect/>
          </a:stretch>
        </p:blipFill>
        <p:spPr>
          <a:xfrm>
            <a:off x="1750963" y="1556775"/>
            <a:ext cx="6434569" cy="4586929"/>
          </a:xfrm>
          <a:prstGeom prst="rect">
            <a:avLst/>
          </a:prstGeom>
        </p:spPr>
      </p:pic>
      <p:sp>
        <p:nvSpPr>
          <p:cNvPr id="3" name="Rectangle 2">
            <a:extLst>
              <a:ext uri="{FF2B5EF4-FFF2-40B4-BE49-F238E27FC236}">
                <a16:creationId xmlns:a16="http://schemas.microsoft.com/office/drawing/2014/main" id="{99E21952-6786-EBF1-DB41-4C80C3209700}"/>
              </a:ext>
            </a:extLst>
          </p:cNvPr>
          <p:cNvSpPr/>
          <p:nvPr/>
        </p:nvSpPr>
        <p:spPr>
          <a:xfrm>
            <a:off x="974010" y="6356350"/>
            <a:ext cx="9954723" cy="523220"/>
          </a:xfrm>
          <a:prstGeom prst="rect">
            <a:avLst/>
          </a:prstGeom>
        </p:spPr>
        <p:txBody>
          <a:bodyPr wrap="square">
            <a:spAutoFit/>
          </a:bodyPr>
          <a:lstStyle/>
          <a:p>
            <a:r>
              <a:rPr lang="en-US" sz="1400" dirty="0">
                <a:effectLst/>
                <a:latin typeface="Arial" panose="020B0604020202020204" pitchFamily="34" charset="0"/>
                <a:ea typeface="Times New Roman" panose="02020603050405020304" pitchFamily="18" charset="0"/>
                <a:cs typeface="Arial" panose="020B0604020202020204" pitchFamily="34" charset="0"/>
              </a:rPr>
              <a:t>Source: </a:t>
            </a:r>
            <a:r>
              <a:rPr lang="en-GB" sz="1400" dirty="0"/>
              <a:t>Arias, C., Murray, B. The rise of the </a:t>
            </a:r>
            <a:r>
              <a:rPr lang="en-GB" sz="1400" i="1" dirty="0"/>
              <a:t>Enterococcus</a:t>
            </a:r>
            <a:r>
              <a:rPr lang="en-GB" sz="1400" dirty="0"/>
              <a:t>: beyond vancomycin resistance. </a:t>
            </a:r>
            <a:r>
              <a:rPr lang="en-GB" sz="1400" i="1" dirty="0"/>
              <a:t>Nat Rev </a:t>
            </a:r>
            <a:r>
              <a:rPr lang="en-GB" sz="1400" i="1" dirty="0" err="1"/>
              <a:t>Microbiol</a:t>
            </a:r>
            <a:r>
              <a:rPr lang="en-GB" sz="1400" dirty="0"/>
              <a:t> </a:t>
            </a:r>
            <a:r>
              <a:rPr lang="en-GB" sz="1400" b="1" dirty="0"/>
              <a:t>10</a:t>
            </a:r>
            <a:r>
              <a:rPr lang="en-GB" sz="1400" dirty="0"/>
              <a:t>, 266–278 (2012). </a:t>
            </a:r>
            <a:r>
              <a:rPr lang="en-GB" sz="1400" dirty="0">
                <a:hlinkClick r:id="rId4"/>
              </a:rPr>
              <a:t>https://doi.org/10.1038/nrmicro2761</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4" name="TextBox 3">
            <a:extLst>
              <a:ext uri="{FF2B5EF4-FFF2-40B4-BE49-F238E27FC236}">
                <a16:creationId xmlns:a16="http://schemas.microsoft.com/office/drawing/2014/main" id="{ED6FCA75-F2C0-9AEB-14D8-EC6FDB044449}"/>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1: Identifying linezolid-resistance point mutations from Enterococcus faecium genomes</a:t>
            </a:r>
          </a:p>
        </p:txBody>
      </p:sp>
    </p:spTree>
    <p:extLst>
      <p:ext uri="{BB962C8B-B14F-4D97-AF65-F5344CB8AC3E}">
        <p14:creationId xmlns:p14="http://schemas.microsoft.com/office/powerpoint/2010/main" val="3776668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B2E9C-331F-FB49-8EA0-0C6B657CC4B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3D9B2EF-917B-4C8E-BDDF-6E67D9AF0FC2}"/>
              </a:ext>
            </a:extLst>
          </p:cNvPr>
          <p:cNvSpPr>
            <a:spLocks noGrp="1"/>
          </p:cNvSpPr>
          <p:nvPr>
            <p:ph type="sldNum" sz="quarter" idx="12"/>
          </p:nvPr>
        </p:nvSpPr>
        <p:spPr/>
        <p:txBody>
          <a:bodyPr/>
          <a:lstStyle/>
          <a:p>
            <a:fld id="{75AEF4DF-2886-834E-8BD5-00D5F339C13C}" type="slidenum">
              <a:rPr lang="en-GB" smtClean="0"/>
              <a:t>3</a:t>
            </a:fld>
            <a:endParaRPr lang="en-GB"/>
          </a:p>
        </p:txBody>
      </p:sp>
      <p:sp>
        <p:nvSpPr>
          <p:cNvPr id="3" name="Rectangle 2">
            <a:extLst>
              <a:ext uri="{FF2B5EF4-FFF2-40B4-BE49-F238E27FC236}">
                <a16:creationId xmlns:a16="http://schemas.microsoft.com/office/drawing/2014/main" id="{51919913-D40F-EFC7-671E-80006D44C2E7}"/>
              </a:ext>
            </a:extLst>
          </p:cNvPr>
          <p:cNvSpPr/>
          <p:nvPr/>
        </p:nvSpPr>
        <p:spPr>
          <a:xfrm>
            <a:off x="974010" y="6356350"/>
            <a:ext cx="9954723" cy="523220"/>
          </a:xfrm>
          <a:prstGeom prst="rect">
            <a:avLst/>
          </a:prstGeom>
        </p:spPr>
        <p:txBody>
          <a:bodyPr wrap="square">
            <a:spAutoFit/>
          </a:bodyPr>
          <a:lstStyle/>
          <a:p>
            <a:r>
              <a:rPr lang="en-US" sz="1400" dirty="0">
                <a:effectLst/>
                <a:latin typeface="Arial" panose="020B0604020202020204" pitchFamily="34" charset="0"/>
                <a:ea typeface="Times New Roman" panose="02020603050405020304" pitchFamily="18" charset="0"/>
                <a:cs typeface="Arial" panose="020B0604020202020204" pitchFamily="34" charset="0"/>
              </a:rPr>
              <a:t>Source: </a:t>
            </a:r>
            <a:r>
              <a:rPr lang="en-GB" sz="1400" dirty="0"/>
              <a:t>Arias, C., Murray, B. The rise of the </a:t>
            </a:r>
            <a:r>
              <a:rPr lang="en-GB" sz="1400" i="1" dirty="0"/>
              <a:t>Enterococcus</a:t>
            </a:r>
            <a:r>
              <a:rPr lang="en-GB" sz="1400" dirty="0"/>
              <a:t>: beyond vancomycin resistance. </a:t>
            </a:r>
            <a:r>
              <a:rPr lang="en-GB" sz="1400" i="1" dirty="0"/>
              <a:t>Nat Rev </a:t>
            </a:r>
            <a:r>
              <a:rPr lang="en-GB" sz="1400" i="1" dirty="0" err="1"/>
              <a:t>Microbiol</a:t>
            </a:r>
            <a:r>
              <a:rPr lang="en-GB" sz="1400" dirty="0"/>
              <a:t> </a:t>
            </a:r>
            <a:r>
              <a:rPr lang="en-GB" sz="1400" b="1" dirty="0"/>
              <a:t>10</a:t>
            </a:r>
            <a:r>
              <a:rPr lang="en-GB" sz="1400" dirty="0"/>
              <a:t>, 266–278 (2012). </a:t>
            </a:r>
            <a:r>
              <a:rPr lang="en-GB" sz="1400" dirty="0">
                <a:hlinkClick r:id="rId3"/>
              </a:rPr>
              <a:t>https://doi.org/10.1038/nrmicro2761</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p:txBody>
      </p:sp>
      <p:pic>
        <p:nvPicPr>
          <p:cNvPr id="4" name="Picture 3" descr="Location of linezolid-resistant mutations in the enterococcal 23S rRNA peptidyl transferase region.">
            <a:extLst>
              <a:ext uri="{FF2B5EF4-FFF2-40B4-BE49-F238E27FC236}">
                <a16:creationId xmlns:a16="http://schemas.microsoft.com/office/drawing/2014/main" id="{F695450F-C832-C274-7D40-F62D721F0AA5}"/>
              </a:ext>
            </a:extLst>
          </p:cNvPr>
          <p:cNvPicPr>
            <a:picLocks noChangeAspect="1"/>
          </p:cNvPicPr>
          <p:nvPr/>
        </p:nvPicPr>
        <p:blipFill>
          <a:blip r:embed="rId4"/>
          <a:stretch>
            <a:fillRect/>
          </a:stretch>
        </p:blipFill>
        <p:spPr>
          <a:xfrm>
            <a:off x="1175133" y="1575410"/>
            <a:ext cx="4407244" cy="4609459"/>
          </a:xfrm>
          <a:prstGeom prst="rect">
            <a:avLst/>
          </a:prstGeom>
        </p:spPr>
      </p:pic>
      <p:sp>
        <p:nvSpPr>
          <p:cNvPr id="5" name="TextBox 4">
            <a:extLst>
              <a:ext uri="{FF2B5EF4-FFF2-40B4-BE49-F238E27FC236}">
                <a16:creationId xmlns:a16="http://schemas.microsoft.com/office/drawing/2014/main" id="{812DFAA7-D1D6-35A1-BF8A-FEE3348EB3BC}"/>
              </a:ext>
            </a:extLst>
          </p:cNvPr>
          <p:cNvSpPr txBox="1"/>
          <p:nvPr/>
        </p:nvSpPr>
        <p:spPr>
          <a:xfrm>
            <a:off x="5720172" y="2551837"/>
            <a:ext cx="4993646" cy="1754326"/>
          </a:xfrm>
          <a:prstGeom prst="rect">
            <a:avLst/>
          </a:prstGeom>
          <a:noFill/>
        </p:spPr>
        <p:txBody>
          <a:bodyPr wrap="square" rtlCol="0">
            <a:spAutoFit/>
          </a:bodyPr>
          <a:lstStyle/>
          <a:p>
            <a:r>
              <a:rPr lang="en-GB" b="1" i="1" dirty="0"/>
              <a:t>Enterococcus faecium</a:t>
            </a:r>
            <a:r>
              <a:rPr lang="en-GB" i="1" dirty="0"/>
              <a:t> </a:t>
            </a:r>
            <a:r>
              <a:rPr lang="en-GB" dirty="0"/>
              <a:t>typically </a:t>
            </a:r>
            <a:r>
              <a:rPr lang="en-GB" b="1" dirty="0"/>
              <a:t>6 copies</a:t>
            </a:r>
            <a:r>
              <a:rPr lang="en-GB" dirty="0"/>
              <a:t> of the 23S rRNA gene.</a:t>
            </a:r>
          </a:p>
          <a:p>
            <a:endParaRPr lang="en-GB" dirty="0"/>
          </a:p>
          <a:p>
            <a:r>
              <a:rPr lang="en-GB" b="1" dirty="0"/>
              <a:t>23S rRNA mutations </a:t>
            </a:r>
            <a:r>
              <a:rPr lang="en-GB" dirty="0"/>
              <a:t>(e.g., G2576T and linezolid resistance) may occur in only a subset of these chromosomal 23S rRNA copies.</a:t>
            </a:r>
          </a:p>
        </p:txBody>
      </p:sp>
      <p:sp>
        <p:nvSpPr>
          <p:cNvPr id="2" name="TextBox 1">
            <a:extLst>
              <a:ext uri="{FF2B5EF4-FFF2-40B4-BE49-F238E27FC236}">
                <a16:creationId xmlns:a16="http://schemas.microsoft.com/office/drawing/2014/main" id="{521FB93A-0686-CCD1-CCEB-5A9146533C3B}"/>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1: Identifying linezolid-resistance point mutations from Enterococcus faecium genomes</a:t>
            </a:r>
          </a:p>
        </p:txBody>
      </p:sp>
    </p:spTree>
    <p:extLst>
      <p:ext uri="{BB962C8B-B14F-4D97-AF65-F5344CB8AC3E}">
        <p14:creationId xmlns:p14="http://schemas.microsoft.com/office/powerpoint/2010/main" val="2455567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2E59CD99-B1E4-D767-5067-70D4A404EEAF}"/>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1: Identifying linezolid-resistance point mutations from Enterococcus faecium genomes</a:t>
            </a:r>
          </a:p>
        </p:txBody>
      </p:sp>
      <p:sp>
        <p:nvSpPr>
          <p:cNvPr id="7" name="Slide Number Placeholder 6">
            <a:extLst>
              <a:ext uri="{FF2B5EF4-FFF2-40B4-BE49-F238E27FC236}">
                <a16:creationId xmlns:a16="http://schemas.microsoft.com/office/drawing/2014/main" id="{FBF9F115-B4ED-12C3-46C4-CEF6CB052623}"/>
              </a:ext>
            </a:extLst>
          </p:cNvPr>
          <p:cNvSpPr>
            <a:spLocks noGrp="1"/>
          </p:cNvSpPr>
          <p:nvPr>
            <p:ph type="sldNum" sz="quarter" idx="12"/>
          </p:nvPr>
        </p:nvSpPr>
        <p:spPr/>
        <p:txBody>
          <a:bodyPr/>
          <a:lstStyle/>
          <a:p>
            <a:fld id="{75AEF4DF-2886-834E-8BD5-00D5F339C13C}" type="slidenum">
              <a:rPr lang="en-GB" smtClean="0"/>
              <a:t>4</a:t>
            </a:fld>
            <a:endParaRPr lang="en-GB"/>
          </a:p>
        </p:txBody>
      </p:sp>
      <p:pic>
        <p:nvPicPr>
          <p:cNvPr id="4" name="Picture 3">
            <a:extLst>
              <a:ext uri="{FF2B5EF4-FFF2-40B4-BE49-F238E27FC236}">
                <a16:creationId xmlns:a16="http://schemas.microsoft.com/office/drawing/2014/main" id="{246DB027-CB19-0AF3-8818-8C0D5F5A9F6E}"/>
              </a:ext>
            </a:extLst>
          </p:cNvPr>
          <p:cNvPicPr>
            <a:picLocks noChangeAspect="1"/>
          </p:cNvPicPr>
          <p:nvPr/>
        </p:nvPicPr>
        <p:blipFill>
          <a:blip r:embed="rId3"/>
          <a:stretch>
            <a:fillRect/>
          </a:stretch>
        </p:blipFill>
        <p:spPr>
          <a:xfrm>
            <a:off x="734289" y="1587972"/>
            <a:ext cx="7532889" cy="2149056"/>
          </a:xfrm>
          <a:prstGeom prst="rect">
            <a:avLst/>
          </a:prstGeom>
        </p:spPr>
      </p:pic>
      <p:pic>
        <p:nvPicPr>
          <p:cNvPr id="6" name="Picture 5">
            <a:extLst>
              <a:ext uri="{FF2B5EF4-FFF2-40B4-BE49-F238E27FC236}">
                <a16:creationId xmlns:a16="http://schemas.microsoft.com/office/drawing/2014/main" id="{CBE22AE8-08F9-61E3-7D9E-47025836AA9C}"/>
              </a:ext>
            </a:extLst>
          </p:cNvPr>
          <p:cNvPicPr>
            <a:picLocks noChangeAspect="1"/>
          </p:cNvPicPr>
          <p:nvPr/>
        </p:nvPicPr>
        <p:blipFill>
          <a:blip r:embed="rId4"/>
          <a:stretch>
            <a:fillRect/>
          </a:stretch>
        </p:blipFill>
        <p:spPr>
          <a:xfrm>
            <a:off x="1443274" y="3737028"/>
            <a:ext cx="10014437" cy="2619322"/>
          </a:xfrm>
          <a:prstGeom prst="rect">
            <a:avLst/>
          </a:prstGeom>
        </p:spPr>
      </p:pic>
      <p:sp>
        <p:nvSpPr>
          <p:cNvPr id="8" name="Rectangle 7">
            <a:extLst>
              <a:ext uri="{FF2B5EF4-FFF2-40B4-BE49-F238E27FC236}">
                <a16:creationId xmlns:a16="http://schemas.microsoft.com/office/drawing/2014/main" id="{368D7AE6-3A75-6195-9D63-C732E58DAAC0}"/>
              </a:ext>
            </a:extLst>
          </p:cNvPr>
          <p:cNvSpPr/>
          <p:nvPr/>
        </p:nvSpPr>
        <p:spPr>
          <a:xfrm>
            <a:off x="734289" y="2662500"/>
            <a:ext cx="7382577" cy="2685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28320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93A39-D87A-17B7-9CE8-295A952A83FA}"/>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D6317608-D42B-FDC9-4F2C-D1BC320B5417}"/>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1: Identifying linezolid-resistance point mutations from Enterococcus faecium genomes</a:t>
            </a:r>
          </a:p>
        </p:txBody>
      </p:sp>
      <p:sp>
        <p:nvSpPr>
          <p:cNvPr id="7" name="Slide Number Placeholder 6">
            <a:extLst>
              <a:ext uri="{FF2B5EF4-FFF2-40B4-BE49-F238E27FC236}">
                <a16:creationId xmlns:a16="http://schemas.microsoft.com/office/drawing/2014/main" id="{8474CC4D-30D2-F131-99F7-690C8E922E5A}"/>
              </a:ext>
            </a:extLst>
          </p:cNvPr>
          <p:cNvSpPr>
            <a:spLocks noGrp="1"/>
          </p:cNvSpPr>
          <p:nvPr>
            <p:ph type="sldNum" sz="quarter" idx="12"/>
          </p:nvPr>
        </p:nvSpPr>
        <p:spPr/>
        <p:txBody>
          <a:bodyPr/>
          <a:lstStyle/>
          <a:p>
            <a:fld id="{75AEF4DF-2886-834E-8BD5-00D5F339C13C}" type="slidenum">
              <a:rPr lang="en-GB" smtClean="0"/>
              <a:t>5</a:t>
            </a:fld>
            <a:endParaRPr lang="en-GB"/>
          </a:p>
        </p:txBody>
      </p:sp>
      <p:pic>
        <p:nvPicPr>
          <p:cNvPr id="4" name="Picture 3">
            <a:extLst>
              <a:ext uri="{FF2B5EF4-FFF2-40B4-BE49-F238E27FC236}">
                <a16:creationId xmlns:a16="http://schemas.microsoft.com/office/drawing/2014/main" id="{9EE85DBB-8941-F8CE-FAEB-2951A25C1943}"/>
              </a:ext>
            </a:extLst>
          </p:cNvPr>
          <p:cNvPicPr>
            <a:picLocks noChangeAspect="1"/>
          </p:cNvPicPr>
          <p:nvPr/>
        </p:nvPicPr>
        <p:blipFill>
          <a:blip r:embed="rId3"/>
          <a:stretch>
            <a:fillRect/>
          </a:stretch>
        </p:blipFill>
        <p:spPr>
          <a:xfrm>
            <a:off x="734289" y="1587972"/>
            <a:ext cx="7532889" cy="2149056"/>
          </a:xfrm>
          <a:prstGeom prst="rect">
            <a:avLst/>
          </a:prstGeom>
        </p:spPr>
      </p:pic>
      <p:sp>
        <p:nvSpPr>
          <p:cNvPr id="8" name="Rectangle 7">
            <a:extLst>
              <a:ext uri="{FF2B5EF4-FFF2-40B4-BE49-F238E27FC236}">
                <a16:creationId xmlns:a16="http://schemas.microsoft.com/office/drawing/2014/main" id="{7343483F-52B9-3399-3599-BA3F7FB6C62C}"/>
              </a:ext>
            </a:extLst>
          </p:cNvPr>
          <p:cNvSpPr/>
          <p:nvPr/>
        </p:nvSpPr>
        <p:spPr>
          <a:xfrm>
            <a:off x="734289" y="2662500"/>
            <a:ext cx="7382577" cy="2685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a:extLst>
              <a:ext uri="{FF2B5EF4-FFF2-40B4-BE49-F238E27FC236}">
                <a16:creationId xmlns:a16="http://schemas.microsoft.com/office/drawing/2014/main" id="{0DA8EEC5-ACD3-E23C-8633-3F687C309AEE}"/>
              </a:ext>
            </a:extLst>
          </p:cNvPr>
          <p:cNvPicPr>
            <a:picLocks noChangeAspect="1"/>
          </p:cNvPicPr>
          <p:nvPr/>
        </p:nvPicPr>
        <p:blipFill>
          <a:blip r:embed="rId4"/>
          <a:srcRect b="61226"/>
          <a:stretch>
            <a:fillRect/>
          </a:stretch>
        </p:blipFill>
        <p:spPr>
          <a:xfrm>
            <a:off x="1484555" y="3737028"/>
            <a:ext cx="9910526" cy="2049997"/>
          </a:xfrm>
          <a:prstGeom prst="rect">
            <a:avLst/>
          </a:prstGeom>
        </p:spPr>
      </p:pic>
      <p:pic>
        <p:nvPicPr>
          <p:cNvPr id="10" name="Picture 9">
            <a:extLst>
              <a:ext uri="{FF2B5EF4-FFF2-40B4-BE49-F238E27FC236}">
                <a16:creationId xmlns:a16="http://schemas.microsoft.com/office/drawing/2014/main" id="{48952C52-C30E-8576-5F5B-647712C6859C}"/>
              </a:ext>
            </a:extLst>
          </p:cNvPr>
          <p:cNvPicPr>
            <a:picLocks noChangeAspect="1"/>
          </p:cNvPicPr>
          <p:nvPr/>
        </p:nvPicPr>
        <p:blipFill>
          <a:blip r:embed="rId4"/>
          <a:srcRect t="91134"/>
          <a:stretch>
            <a:fillRect/>
          </a:stretch>
        </p:blipFill>
        <p:spPr>
          <a:xfrm>
            <a:off x="1484555" y="5651699"/>
            <a:ext cx="9910526" cy="468769"/>
          </a:xfrm>
          <a:prstGeom prst="rect">
            <a:avLst/>
          </a:prstGeom>
        </p:spPr>
      </p:pic>
    </p:spTree>
    <p:extLst>
      <p:ext uri="{BB962C8B-B14F-4D97-AF65-F5344CB8AC3E}">
        <p14:creationId xmlns:p14="http://schemas.microsoft.com/office/powerpoint/2010/main" val="4010442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5545B-E6CF-4553-CDF4-FEA5B624B830}"/>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5551AA50-F617-E3AA-76E7-1C7FB5C743DD}"/>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1: Identifying linezolid-resistance point mutations from Enterococcus faecium genomes</a:t>
            </a:r>
          </a:p>
        </p:txBody>
      </p:sp>
      <p:sp>
        <p:nvSpPr>
          <p:cNvPr id="7" name="Slide Number Placeholder 6">
            <a:extLst>
              <a:ext uri="{FF2B5EF4-FFF2-40B4-BE49-F238E27FC236}">
                <a16:creationId xmlns:a16="http://schemas.microsoft.com/office/drawing/2014/main" id="{D0AC147A-056C-8082-9EFD-B1175BB25FD4}"/>
              </a:ext>
            </a:extLst>
          </p:cNvPr>
          <p:cNvSpPr>
            <a:spLocks noGrp="1"/>
          </p:cNvSpPr>
          <p:nvPr>
            <p:ph type="sldNum" sz="quarter" idx="12"/>
          </p:nvPr>
        </p:nvSpPr>
        <p:spPr/>
        <p:txBody>
          <a:bodyPr/>
          <a:lstStyle/>
          <a:p>
            <a:fld id="{75AEF4DF-2886-834E-8BD5-00D5F339C13C}" type="slidenum">
              <a:rPr lang="en-GB" smtClean="0"/>
              <a:t>6</a:t>
            </a:fld>
            <a:endParaRPr lang="en-GB"/>
          </a:p>
        </p:txBody>
      </p:sp>
      <p:pic>
        <p:nvPicPr>
          <p:cNvPr id="4" name="Picture 3">
            <a:extLst>
              <a:ext uri="{FF2B5EF4-FFF2-40B4-BE49-F238E27FC236}">
                <a16:creationId xmlns:a16="http://schemas.microsoft.com/office/drawing/2014/main" id="{FB507DD4-299A-9879-4CA9-C5D08EAE0C0D}"/>
              </a:ext>
            </a:extLst>
          </p:cNvPr>
          <p:cNvPicPr>
            <a:picLocks noChangeAspect="1"/>
          </p:cNvPicPr>
          <p:nvPr/>
        </p:nvPicPr>
        <p:blipFill>
          <a:blip r:embed="rId3"/>
          <a:stretch>
            <a:fillRect/>
          </a:stretch>
        </p:blipFill>
        <p:spPr>
          <a:xfrm>
            <a:off x="734289" y="1587972"/>
            <a:ext cx="7532889" cy="2149056"/>
          </a:xfrm>
          <a:prstGeom prst="rect">
            <a:avLst/>
          </a:prstGeom>
        </p:spPr>
      </p:pic>
      <p:sp>
        <p:nvSpPr>
          <p:cNvPr id="8" name="Rectangle 7">
            <a:extLst>
              <a:ext uri="{FF2B5EF4-FFF2-40B4-BE49-F238E27FC236}">
                <a16:creationId xmlns:a16="http://schemas.microsoft.com/office/drawing/2014/main" id="{A0E30FE0-5655-D4B3-1717-E1B12379308F}"/>
              </a:ext>
            </a:extLst>
          </p:cNvPr>
          <p:cNvSpPr/>
          <p:nvPr/>
        </p:nvSpPr>
        <p:spPr>
          <a:xfrm>
            <a:off x="734289" y="2887968"/>
            <a:ext cx="7382577" cy="2685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89580CC9-9D4B-55F1-888E-469788C0AED0}"/>
              </a:ext>
            </a:extLst>
          </p:cNvPr>
          <p:cNvPicPr>
            <a:picLocks noChangeAspect="1"/>
          </p:cNvPicPr>
          <p:nvPr/>
        </p:nvPicPr>
        <p:blipFill>
          <a:blip r:embed="rId4"/>
          <a:stretch>
            <a:fillRect/>
          </a:stretch>
        </p:blipFill>
        <p:spPr>
          <a:xfrm>
            <a:off x="1443274" y="3737028"/>
            <a:ext cx="9942680" cy="2654907"/>
          </a:xfrm>
          <a:prstGeom prst="rect">
            <a:avLst/>
          </a:prstGeom>
        </p:spPr>
      </p:pic>
    </p:spTree>
    <p:extLst>
      <p:ext uri="{BB962C8B-B14F-4D97-AF65-F5344CB8AC3E}">
        <p14:creationId xmlns:p14="http://schemas.microsoft.com/office/powerpoint/2010/main" val="3212442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26069-C1AE-DAF0-4D4B-19B4DB4EA557}"/>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38A39930-3084-E08E-4CBE-C82AB707C0EB}"/>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1: Identifying linezolid-resistance point mutations from Enterococcus faecium genomes</a:t>
            </a:r>
          </a:p>
        </p:txBody>
      </p:sp>
      <p:sp>
        <p:nvSpPr>
          <p:cNvPr id="7" name="Slide Number Placeholder 6">
            <a:extLst>
              <a:ext uri="{FF2B5EF4-FFF2-40B4-BE49-F238E27FC236}">
                <a16:creationId xmlns:a16="http://schemas.microsoft.com/office/drawing/2014/main" id="{E2248018-673F-BC6B-813F-5A2D1A6EBD5B}"/>
              </a:ext>
            </a:extLst>
          </p:cNvPr>
          <p:cNvSpPr>
            <a:spLocks noGrp="1"/>
          </p:cNvSpPr>
          <p:nvPr>
            <p:ph type="sldNum" sz="quarter" idx="12"/>
          </p:nvPr>
        </p:nvSpPr>
        <p:spPr/>
        <p:txBody>
          <a:bodyPr/>
          <a:lstStyle/>
          <a:p>
            <a:fld id="{75AEF4DF-2886-834E-8BD5-00D5F339C13C}" type="slidenum">
              <a:rPr lang="en-GB" smtClean="0"/>
              <a:t>7</a:t>
            </a:fld>
            <a:endParaRPr lang="en-GB"/>
          </a:p>
        </p:txBody>
      </p:sp>
      <p:pic>
        <p:nvPicPr>
          <p:cNvPr id="4" name="Picture 3">
            <a:extLst>
              <a:ext uri="{FF2B5EF4-FFF2-40B4-BE49-F238E27FC236}">
                <a16:creationId xmlns:a16="http://schemas.microsoft.com/office/drawing/2014/main" id="{CDEEF22B-F16C-8983-49EB-3B3E3E014323}"/>
              </a:ext>
            </a:extLst>
          </p:cNvPr>
          <p:cNvPicPr>
            <a:picLocks noChangeAspect="1"/>
          </p:cNvPicPr>
          <p:nvPr/>
        </p:nvPicPr>
        <p:blipFill>
          <a:blip r:embed="rId3"/>
          <a:stretch>
            <a:fillRect/>
          </a:stretch>
        </p:blipFill>
        <p:spPr>
          <a:xfrm>
            <a:off x="734289" y="1587972"/>
            <a:ext cx="7532889" cy="2149056"/>
          </a:xfrm>
          <a:prstGeom prst="rect">
            <a:avLst/>
          </a:prstGeom>
        </p:spPr>
      </p:pic>
      <p:sp>
        <p:nvSpPr>
          <p:cNvPr id="8" name="Rectangle 7">
            <a:extLst>
              <a:ext uri="{FF2B5EF4-FFF2-40B4-BE49-F238E27FC236}">
                <a16:creationId xmlns:a16="http://schemas.microsoft.com/office/drawing/2014/main" id="{3CAF5773-C6B7-FE3C-1EC6-48437C3DDB1B}"/>
              </a:ext>
            </a:extLst>
          </p:cNvPr>
          <p:cNvSpPr/>
          <p:nvPr/>
        </p:nvSpPr>
        <p:spPr>
          <a:xfrm>
            <a:off x="734289" y="2887968"/>
            <a:ext cx="7382577" cy="2685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B971E34F-E34B-4FDA-02C0-90FD9FCB45E2}"/>
              </a:ext>
            </a:extLst>
          </p:cNvPr>
          <p:cNvPicPr>
            <a:picLocks noChangeAspect="1"/>
          </p:cNvPicPr>
          <p:nvPr/>
        </p:nvPicPr>
        <p:blipFill>
          <a:blip r:embed="rId4"/>
          <a:srcRect b="59156"/>
          <a:stretch>
            <a:fillRect/>
          </a:stretch>
        </p:blipFill>
        <p:spPr>
          <a:xfrm>
            <a:off x="1443274" y="3822835"/>
            <a:ext cx="9910526" cy="2149056"/>
          </a:xfrm>
          <a:prstGeom prst="rect">
            <a:avLst/>
          </a:prstGeom>
        </p:spPr>
      </p:pic>
      <p:pic>
        <p:nvPicPr>
          <p:cNvPr id="9" name="Picture 8">
            <a:extLst>
              <a:ext uri="{FF2B5EF4-FFF2-40B4-BE49-F238E27FC236}">
                <a16:creationId xmlns:a16="http://schemas.microsoft.com/office/drawing/2014/main" id="{F04828AF-18A1-6B95-EFA1-FF99001F9C7A}"/>
              </a:ext>
            </a:extLst>
          </p:cNvPr>
          <p:cNvPicPr>
            <a:picLocks noChangeAspect="1"/>
          </p:cNvPicPr>
          <p:nvPr/>
        </p:nvPicPr>
        <p:blipFill>
          <a:blip r:embed="rId4"/>
          <a:srcRect t="89990"/>
          <a:stretch>
            <a:fillRect/>
          </a:stretch>
        </p:blipFill>
        <p:spPr>
          <a:xfrm>
            <a:off x="1443274" y="5829666"/>
            <a:ext cx="9910526" cy="526684"/>
          </a:xfrm>
          <a:prstGeom prst="rect">
            <a:avLst/>
          </a:prstGeom>
        </p:spPr>
      </p:pic>
    </p:spTree>
    <p:extLst>
      <p:ext uri="{BB962C8B-B14F-4D97-AF65-F5344CB8AC3E}">
        <p14:creationId xmlns:p14="http://schemas.microsoft.com/office/powerpoint/2010/main" val="3858636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48A35-4C11-C07E-9DF4-EEC5C08F9D65}"/>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A95E724F-EC32-644D-6BFC-30D7421C1B4B}"/>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1: Identifying linezolid-resistance point mutations from Enterococcus faecium genomes</a:t>
            </a:r>
          </a:p>
        </p:txBody>
      </p:sp>
      <p:sp>
        <p:nvSpPr>
          <p:cNvPr id="7" name="Slide Number Placeholder 6">
            <a:extLst>
              <a:ext uri="{FF2B5EF4-FFF2-40B4-BE49-F238E27FC236}">
                <a16:creationId xmlns:a16="http://schemas.microsoft.com/office/drawing/2014/main" id="{F03D97A5-E3CE-895E-83A1-218F1EA00A61}"/>
              </a:ext>
            </a:extLst>
          </p:cNvPr>
          <p:cNvSpPr>
            <a:spLocks noGrp="1"/>
          </p:cNvSpPr>
          <p:nvPr>
            <p:ph type="sldNum" sz="quarter" idx="12"/>
          </p:nvPr>
        </p:nvSpPr>
        <p:spPr/>
        <p:txBody>
          <a:bodyPr/>
          <a:lstStyle/>
          <a:p>
            <a:fld id="{75AEF4DF-2886-834E-8BD5-00D5F339C13C}" type="slidenum">
              <a:rPr lang="en-GB" smtClean="0"/>
              <a:t>8</a:t>
            </a:fld>
            <a:endParaRPr lang="en-GB"/>
          </a:p>
        </p:txBody>
      </p:sp>
      <p:pic>
        <p:nvPicPr>
          <p:cNvPr id="4" name="Picture 3">
            <a:extLst>
              <a:ext uri="{FF2B5EF4-FFF2-40B4-BE49-F238E27FC236}">
                <a16:creationId xmlns:a16="http://schemas.microsoft.com/office/drawing/2014/main" id="{970EAB10-4897-8414-275D-812D6D3E62D5}"/>
              </a:ext>
            </a:extLst>
          </p:cNvPr>
          <p:cNvPicPr>
            <a:picLocks noChangeAspect="1"/>
          </p:cNvPicPr>
          <p:nvPr/>
        </p:nvPicPr>
        <p:blipFill>
          <a:blip r:embed="rId3"/>
          <a:stretch>
            <a:fillRect/>
          </a:stretch>
        </p:blipFill>
        <p:spPr>
          <a:xfrm>
            <a:off x="734289" y="1587972"/>
            <a:ext cx="7532889" cy="2149056"/>
          </a:xfrm>
          <a:prstGeom prst="rect">
            <a:avLst/>
          </a:prstGeom>
        </p:spPr>
      </p:pic>
      <p:sp>
        <p:nvSpPr>
          <p:cNvPr id="8" name="Rectangle 7">
            <a:extLst>
              <a:ext uri="{FF2B5EF4-FFF2-40B4-BE49-F238E27FC236}">
                <a16:creationId xmlns:a16="http://schemas.microsoft.com/office/drawing/2014/main" id="{CE9DE77D-DC23-F68B-F3BB-0D4843F14B2E}"/>
              </a:ext>
            </a:extLst>
          </p:cNvPr>
          <p:cNvSpPr/>
          <p:nvPr/>
        </p:nvSpPr>
        <p:spPr>
          <a:xfrm>
            <a:off x="734289" y="3100910"/>
            <a:ext cx="7382577" cy="2685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14277176-2D9A-C400-B7AC-A01D38521030}"/>
              </a:ext>
            </a:extLst>
          </p:cNvPr>
          <p:cNvPicPr>
            <a:picLocks noChangeAspect="1"/>
          </p:cNvPicPr>
          <p:nvPr/>
        </p:nvPicPr>
        <p:blipFill>
          <a:blip r:embed="rId4"/>
          <a:stretch>
            <a:fillRect/>
          </a:stretch>
        </p:blipFill>
        <p:spPr>
          <a:xfrm>
            <a:off x="1443274" y="3737028"/>
            <a:ext cx="9961212" cy="2654907"/>
          </a:xfrm>
          <a:prstGeom prst="rect">
            <a:avLst/>
          </a:prstGeom>
        </p:spPr>
      </p:pic>
    </p:spTree>
    <p:extLst>
      <p:ext uri="{BB962C8B-B14F-4D97-AF65-F5344CB8AC3E}">
        <p14:creationId xmlns:p14="http://schemas.microsoft.com/office/powerpoint/2010/main" val="3610646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6BC61-D296-5FE0-3D13-C3CC24D92FE4}"/>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C6AFBDC9-9C24-6A91-1C6E-86FE2140C2E3}"/>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1: Identifying linezolid-resistance point mutations from Enterococcus faecium genomes</a:t>
            </a:r>
          </a:p>
        </p:txBody>
      </p:sp>
      <p:sp>
        <p:nvSpPr>
          <p:cNvPr id="7" name="Slide Number Placeholder 6">
            <a:extLst>
              <a:ext uri="{FF2B5EF4-FFF2-40B4-BE49-F238E27FC236}">
                <a16:creationId xmlns:a16="http://schemas.microsoft.com/office/drawing/2014/main" id="{DF17F399-5E3D-26F2-D49D-EDA2131F28E7}"/>
              </a:ext>
            </a:extLst>
          </p:cNvPr>
          <p:cNvSpPr>
            <a:spLocks noGrp="1"/>
          </p:cNvSpPr>
          <p:nvPr>
            <p:ph type="sldNum" sz="quarter" idx="12"/>
          </p:nvPr>
        </p:nvSpPr>
        <p:spPr/>
        <p:txBody>
          <a:bodyPr/>
          <a:lstStyle/>
          <a:p>
            <a:fld id="{75AEF4DF-2886-834E-8BD5-00D5F339C13C}" type="slidenum">
              <a:rPr lang="en-GB" smtClean="0"/>
              <a:t>9</a:t>
            </a:fld>
            <a:endParaRPr lang="en-GB"/>
          </a:p>
        </p:txBody>
      </p:sp>
      <p:pic>
        <p:nvPicPr>
          <p:cNvPr id="4" name="Picture 3">
            <a:extLst>
              <a:ext uri="{FF2B5EF4-FFF2-40B4-BE49-F238E27FC236}">
                <a16:creationId xmlns:a16="http://schemas.microsoft.com/office/drawing/2014/main" id="{29BB121B-EAB2-C725-8E5C-3DB3C62DAD6B}"/>
              </a:ext>
            </a:extLst>
          </p:cNvPr>
          <p:cNvPicPr>
            <a:picLocks noChangeAspect="1"/>
          </p:cNvPicPr>
          <p:nvPr/>
        </p:nvPicPr>
        <p:blipFill>
          <a:blip r:embed="rId3"/>
          <a:stretch>
            <a:fillRect/>
          </a:stretch>
        </p:blipFill>
        <p:spPr>
          <a:xfrm>
            <a:off x="734289" y="1587972"/>
            <a:ext cx="7532889" cy="2149056"/>
          </a:xfrm>
          <a:prstGeom prst="rect">
            <a:avLst/>
          </a:prstGeom>
        </p:spPr>
      </p:pic>
      <p:sp>
        <p:nvSpPr>
          <p:cNvPr id="8" name="Rectangle 7">
            <a:extLst>
              <a:ext uri="{FF2B5EF4-FFF2-40B4-BE49-F238E27FC236}">
                <a16:creationId xmlns:a16="http://schemas.microsoft.com/office/drawing/2014/main" id="{999580D6-A563-3E8F-86CB-7B49B819BDFC}"/>
              </a:ext>
            </a:extLst>
          </p:cNvPr>
          <p:cNvSpPr/>
          <p:nvPr/>
        </p:nvSpPr>
        <p:spPr>
          <a:xfrm>
            <a:off x="734289" y="3100910"/>
            <a:ext cx="7382577" cy="2685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268B1CDA-C00F-1A96-85C2-24CCA181BCD2}"/>
              </a:ext>
            </a:extLst>
          </p:cNvPr>
          <p:cNvPicPr>
            <a:picLocks noChangeAspect="1"/>
          </p:cNvPicPr>
          <p:nvPr/>
        </p:nvPicPr>
        <p:blipFill>
          <a:blip r:embed="rId4"/>
          <a:srcRect b="63895"/>
          <a:stretch>
            <a:fillRect/>
          </a:stretch>
        </p:blipFill>
        <p:spPr>
          <a:xfrm>
            <a:off x="1493960" y="3737028"/>
            <a:ext cx="9910526" cy="1781528"/>
          </a:xfrm>
          <a:prstGeom prst="rect">
            <a:avLst/>
          </a:prstGeom>
        </p:spPr>
      </p:pic>
      <p:pic>
        <p:nvPicPr>
          <p:cNvPr id="10" name="Picture 9">
            <a:extLst>
              <a:ext uri="{FF2B5EF4-FFF2-40B4-BE49-F238E27FC236}">
                <a16:creationId xmlns:a16="http://schemas.microsoft.com/office/drawing/2014/main" id="{9D56180F-7B59-59D1-7EAA-F244AF136A81}"/>
              </a:ext>
            </a:extLst>
          </p:cNvPr>
          <p:cNvPicPr>
            <a:picLocks noChangeAspect="1"/>
          </p:cNvPicPr>
          <p:nvPr/>
        </p:nvPicPr>
        <p:blipFill>
          <a:blip r:embed="rId4"/>
          <a:srcRect t="89483" b="871"/>
          <a:stretch>
            <a:fillRect/>
          </a:stretch>
        </p:blipFill>
        <p:spPr>
          <a:xfrm>
            <a:off x="1493960" y="5518556"/>
            <a:ext cx="9910526" cy="475988"/>
          </a:xfrm>
          <a:prstGeom prst="rect">
            <a:avLst/>
          </a:prstGeom>
        </p:spPr>
      </p:pic>
    </p:spTree>
    <p:extLst>
      <p:ext uri="{BB962C8B-B14F-4D97-AF65-F5344CB8AC3E}">
        <p14:creationId xmlns:p14="http://schemas.microsoft.com/office/powerpoint/2010/main" val="3091818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A5B93-40C3-215C-B273-F40DEB9310B6}"/>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1D29174B-2DFA-2E90-D364-861A2A019190}"/>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1: Identifying linezolid-resistance point mutations from Enterococcus faecium genomes</a:t>
            </a:r>
          </a:p>
        </p:txBody>
      </p:sp>
      <p:sp>
        <p:nvSpPr>
          <p:cNvPr id="7" name="Slide Number Placeholder 6">
            <a:extLst>
              <a:ext uri="{FF2B5EF4-FFF2-40B4-BE49-F238E27FC236}">
                <a16:creationId xmlns:a16="http://schemas.microsoft.com/office/drawing/2014/main" id="{1209E58F-89F9-6978-B5D3-797FC8FF4716}"/>
              </a:ext>
            </a:extLst>
          </p:cNvPr>
          <p:cNvSpPr>
            <a:spLocks noGrp="1"/>
          </p:cNvSpPr>
          <p:nvPr>
            <p:ph type="sldNum" sz="quarter" idx="12"/>
          </p:nvPr>
        </p:nvSpPr>
        <p:spPr/>
        <p:txBody>
          <a:bodyPr/>
          <a:lstStyle/>
          <a:p>
            <a:fld id="{75AEF4DF-2886-834E-8BD5-00D5F339C13C}" type="slidenum">
              <a:rPr lang="en-GB" smtClean="0"/>
              <a:t>10</a:t>
            </a:fld>
            <a:endParaRPr lang="en-GB"/>
          </a:p>
        </p:txBody>
      </p:sp>
      <p:pic>
        <p:nvPicPr>
          <p:cNvPr id="4" name="Picture 3">
            <a:extLst>
              <a:ext uri="{FF2B5EF4-FFF2-40B4-BE49-F238E27FC236}">
                <a16:creationId xmlns:a16="http://schemas.microsoft.com/office/drawing/2014/main" id="{768E71A6-B65D-A99E-4072-086C8E05CCC3}"/>
              </a:ext>
            </a:extLst>
          </p:cNvPr>
          <p:cNvPicPr>
            <a:picLocks noChangeAspect="1"/>
          </p:cNvPicPr>
          <p:nvPr/>
        </p:nvPicPr>
        <p:blipFill>
          <a:blip r:embed="rId3"/>
          <a:stretch>
            <a:fillRect/>
          </a:stretch>
        </p:blipFill>
        <p:spPr>
          <a:xfrm>
            <a:off x="734289" y="1587972"/>
            <a:ext cx="7532889" cy="2149056"/>
          </a:xfrm>
          <a:prstGeom prst="rect">
            <a:avLst/>
          </a:prstGeom>
        </p:spPr>
      </p:pic>
      <p:sp>
        <p:nvSpPr>
          <p:cNvPr id="8" name="Rectangle 7">
            <a:extLst>
              <a:ext uri="{FF2B5EF4-FFF2-40B4-BE49-F238E27FC236}">
                <a16:creationId xmlns:a16="http://schemas.microsoft.com/office/drawing/2014/main" id="{9025EFEA-B0C5-58E2-186D-4684B58B0A8C}"/>
              </a:ext>
            </a:extLst>
          </p:cNvPr>
          <p:cNvSpPr/>
          <p:nvPr/>
        </p:nvSpPr>
        <p:spPr>
          <a:xfrm>
            <a:off x="734289" y="3301326"/>
            <a:ext cx="7382577" cy="2685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79EBC139-3255-E052-BD21-2D0EE7DE5399}"/>
              </a:ext>
            </a:extLst>
          </p:cNvPr>
          <p:cNvPicPr>
            <a:picLocks noChangeAspect="1"/>
          </p:cNvPicPr>
          <p:nvPr/>
        </p:nvPicPr>
        <p:blipFill>
          <a:blip r:embed="rId4"/>
          <a:stretch>
            <a:fillRect/>
          </a:stretch>
        </p:blipFill>
        <p:spPr>
          <a:xfrm>
            <a:off x="1443274" y="3771050"/>
            <a:ext cx="9961212" cy="2646442"/>
          </a:xfrm>
          <a:prstGeom prst="rect">
            <a:avLst/>
          </a:prstGeom>
        </p:spPr>
      </p:pic>
    </p:spTree>
    <p:extLst>
      <p:ext uri="{BB962C8B-B14F-4D97-AF65-F5344CB8AC3E}">
        <p14:creationId xmlns:p14="http://schemas.microsoft.com/office/powerpoint/2010/main" val="3920961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24D5C-4E61-C7C6-E871-EE9D60BCD1F5}"/>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63610F47-B90C-650A-9D4A-8C16E471815D}"/>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1: Identifying linezolid-resistance point mutations from Enterococcus faecium genomes</a:t>
            </a:r>
          </a:p>
        </p:txBody>
      </p:sp>
      <p:sp>
        <p:nvSpPr>
          <p:cNvPr id="7" name="Slide Number Placeholder 6">
            <a:extLst>
              <a:ext uri="{FF2B5EF4-FFF2-40B4-BE49-F238E27FC236}">
                <a16:creationId xmlns:a16="http://schemas.microsoft.com/office/drawing/2014/main" id="{D6AFE471-75EC-080D-56D4-7BE1412ABF98}"/>
              </a:ext>
            </a:extLst>
          </p:cNvPr>
          <p:cNvSpPr>
            <a:spLocks noGrp="1"/>
          </p:cNvSpPr>
          <p:nvPr>
            <p:ph type="sldNum" sz="quarter" idx="12"/>
          </p:nvPr>
        </p:nvSpPr>
        <p:spPr/>
        <p:txBody>
          <a:bodyPr/>
          <a:lstStyle/>
          <a:p>
            <a:fld id="{75AEF4DF-2886-834E-8BD5-00D5F339C13C}" type="slidenum">
              <a:rPr lang="en-GB" smtClean="0"/>
              <a:t>11</a:t>
            </a:fld>
            <a:endParaRPr lang="en-GB"/>
          </a:p>
        </p:txBody>
      </p:sp>
      <p:pic>
        <p:nvPicPr>
          <p:cNvPr id="4" name="Picture 3">
            <a:extLst>
              <a:ext uri="{FF2B5EF4-FFF2-40B4-BE49-F238E27FC236}">
                <a16:creationId xmlns:a16="http://schemas.microsoft.com/office/drawing/2014/main" id="{CE554EB0-3800-B213-3E01-D43AAAAE7FCC}"/>
              </a:ext>
            </a:extLst>
          </p:cNvPr>
          <p:cNvPicPr>
            <a:picLocks noChangeAspect="1"/>
          </p:cNvPicPr>
          <p:nvPr/>
        </p:nvPicPr>
        <p:blipFill>
          <a:blip r:embed="rId3"/>
          <a:stretch>
            <a:fillRect/>
          </a:stretch>
        </p:blipFill>
        <p:spPr>
          <a:xfrm>
            <a:off x="734289" y="1587972"/>
            <a:ext cx="7532889" cy="2149056"/>
          </a:xfrm>
          <a:prstGeom prst="rect">
            <a:avLst/>
          </a:prstGeom>
        </p:spPr>
      </p:pic>
      <p:sp>
        <p:nvSpPr>
          <p:cNvPr id="8" name="Rectangle 7">
            <a:extLst>
              <a:ext uri="{FF2B5EF4-FFF2-40B4-BE49-F238E27FC236}">
                <a16:creationId xmlns:a16="http://schemas.microsoft.com/office/drawing/2014/main" id="{D05FBDC7-306E-733E-DF79-4658B01EBCDD}"/>
              </a:ext>
            </a:extLst>
          </p:cNvPr>
          <p:cNvSpPr/>
          <p:nvPr/>
        </p:nvSpPr>
        <p:spPr>
          <a:xfrm>
            <a:off x="734289" y="3301326"/>
            <a:ext cx="7382577" cy="2685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F125FB1D-5DD8-ACE7-078A-846A8B632FB9}"/>
              </a:ext>
            </a:extLst>
          </p:cNvPr>
          <p:cNvPicPr>
            <a:picLocks noChangeAspect="1"/>
          </p:cNvPicPr>
          <p:nvPr/>
        </p:nvPicPr>
        <p:blipFill>
          <a:blip r:embed="rId4"/>
          <a:srcRect b="59771"/>
          <a:stretch>
            <a:fillRect/>
          </a:stretch>
        </p:blipFill>
        <p:spPr>
          <a:xfrm>
            <a:off x="1443274" y="3771050"/>
            <a:ext cx="9910526" cy="2149056"/>
          </a:xfrm>
          <a:prstGeom prst="rect">
            <a:avLst/>
          </a:prstGeom>
        </p:spPr>
      </p:pic>
      <p:pic>
        <p:nvPicPr>
          <p:cNvPr id="9" name="Picture 8">
            <a:extLst>
              <a:ext uri="{FF2B5EF4-FFF2-40B4-BE49-F238E27FC236}">
                <a16:creationId xmlns:a16="http://schemas.microsoft.com/office/drawing/2014/main" id="{3E9C4E62-B91B-AF6F-FE6C-E563E48E9C30}"/>
              </a:ext>
            </a:extLst>
          </p:cNvPr>
          <p:cNvPicPr>
            <a:picLocks noChangeAspect="1"/>
          </p:cNvPicPr>
          <p:nvPr/>
        </p:nvPicPr>
        <p:blipFill>
          <a:blip r:embed="rId4"/>
          <a:srcRect t="91499"/>
          <a:stretch>
            <a:fillRect/>
          </a:stretch>
        </p:blipFill>
        <p:spPr>
          <a:xfrm>
            <a:off x="1443274" y="5929076"/>
            <a:ext cx="9910526" cy="454153"/>
          </a:xfrm>
          <a:prstGeom prst="rect">
            <a:avLst/>
          </a:prstGeom>
        </p:spPr>
      </p:pic>
    </p:spTree>
    <p:extLst>
      <p:ext uri="{BB962C8B-B14F-4D97-AF65-F5344CB8AC3E}">
        <p14:creationId xmlns:p14="http://schemas.microsoft.com/office/powerpoint/2010/main" val="2778559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1F0DB-2889-5DCE-4913-FD3C48D2A593}"/>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8D68BA20-AB51-0575-DA8B-D95337BBDE30}"/>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1: Identifying linezolid-resistance point mutations from Enterococcus faecium genomes</a:t>
            </a:r>
          </a:p>
        </p:txBody>
      </p:sp>
      <p:sp>
        <p:nvSpPr>
          <p:cNvPr id="7" name="Slide Number Placeholder 6">
            <a:extLst>
              <a:ext uri="{FF2B5EF4-FFF2-40B4-BE49-F238E27FC236}">
                <a16:creationId xmlns:a16="http://schemas.microsoft.com/office/drawing/2014/main" id="{F397F1C4-1EE8-BE24-E95E-2193BA52BB76}"/>
              </a:ext>
            </a:extLst>
          </p:cNvPr>
          <p:cNvSpPr>
            <a:spLocks noGrp="1"/>
          </p:cNvSpPr>
          <p:nvPr>
            <p:ph type="sldNum" sz="quarter" idx="12"/>
          </p:nvPr>
        </p:nvSpPr>
        <p:spPr/>
        <p:txBody>
          <a:bodyPr/>
          <a:lstStyle/>
          <a:p>
            <a:fld id="{75AEF4DF-2886-834E-8BD5-00D5F339C13C}" type="slidenum">
              <a:rPr lang="en-GB" smtClean="0"/>
              <a:t>12</a:t>
            </a:fld>
            <a:endParaRPr lang="en-GB"/>
          </a:p>
        </p:txBody>
      </p:sp>
      <p:pic>
        <p:nvPicPr>
          <p:cNvPr id="3" name="Picture 2">
            <a:extLst>
              <a:ext uri="{FF2B5EF4-FFF2-40B4-BE49-F238E27FC236}">
                <a16:creationId xmlns:a16="http://schemas.microsoft.com/office/drawing/2014/main" id="{2E2CB171-1D17-2AE6-AC32-3B33A6AB831A}"/>
              </a:ext>
            </a:extLst>
          </p:cNvPr>
          <p:cNvPicPr>
            <a:picLocks noChangeAspect="1"/>
          </p:cNvPicPr>
          <p:nvPr/>
        </p:nvPicPr>
        <p:blipFill>
          <a:blip r:embed="rId3"/>
          <a:srcRect b="33716"/>
          <a:stretch>
            <a:fillRect/>
          </a:stretch>
        </p:blipFill>
        <p:spPr>
          <a:xfrm>
            <a:off x="734289" y="1559103"/>
            <a:ext cx="10559905" cy="4666332"/>
          </a:xfrm>
          <a:prstGeom prst="rect">
            <a:avLst/>
          </a:prstGeom>
        </p:spPr>
      </p:pic>
    </p:spTree>
    <p:extLst>
      <p:ext uri="{BB962C8B-B14F-4D97-AF65-F5344CB8AC3E}">
        <p14:creationId xmlns:p14="http://schemas.microsoft.com/office/powerpoint/2010/main" val="1114581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1C17F-E70B-B0D5-B285-E5257D64F522}"/>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C6D9BB03-64F0-DC98-F88C-658D2D2B4442}"/>
              </a:ext>
            </a:extLst>
          </p:cNvPr>
          <p:cNvSpPr txBox="1"/>
          <p:nvPr/>
        </p:nvSpPr>
        <p:spPr>
          <a:xfrm>
            <a:off x="734289" y="404195"/>
            <a:ext cx="10381730" cy="954107"/>
          </a:xfrm>
          <a:prstGeom prst="rect">
            <a:avLst/>
          </a:prstGeom>
          <a:noFill/>
        </p:spPr>
        <p:txBody>
          <a:bodyPr wrap="square">
            <a:spAutoFit/>
          </a:bodyPr>
          <a:lstStyle/>
          <a:p>
            <a:r>
              <a:rPr lang="en-GB" sz="2800" b="1" dirty="0"/>
              <a:t>Case study 2: Effect of duplicated and truncated AMR genes on genotypic AMR determination</a:t>
            </a:r>
          </a:p>
        </p:txBody>
      </p:sp>
      <p:sp>
        <p:nvSpPr>
          <p:cNvPr id="7" name="Slide Number Placeholder 6">
            <a:extLst>
              <a:ext uri="{FF2B5EF4-FFF2-40B4-BE49-F238E27FC236}">
                <a16:creationId xmlns:a16="http://schemas.microsoft.com/office/drawing/2014/main" id="{0AC38D62-3833-2EC0-DC5A-15DB639AE81F}"/>
              </a:ext>
            </a:extLst>
          </p:cNvPr>
          <p:cNvSpPr>
            <a:spLocks noGrp="1"/>
          </p:cNvSpPr>
          <p:nvPr>
            <p:ph type="sldNum" sz="quarter" idx="12"/>
          </p:nvPr>
        </p:nvSpPr>
        <p:spPr/>
        <p:txBody>
          <a:bodyPr/>
          <a:lstStyle/>
          <a:p>
            <a:fld id="{75AEF4DF-2886-834E-8BD5-00D5F339C13C}" type="slidenum">
              <a:rPr lang="en-GB" smtClean="0"/>
              <a:t>13</a:t>
            </a:fld>
            <a:endParaRPr lang="en-GB"/>
          </a:p>
        </p:txBody>
      </p:sp>
      <p:sp>
        <p:nvSpPr>
          <p:cNvPr id="9" name="TextBox 8">
            <a:extLst>
              <a:ext uri="{FF2B5EF4-FFF2-40B4-BE49-F238E27FC236}">
                <a16:creationId xmlns:a16="http://schemas.microsoft.com/office/drawing/2014/main" id="{2436E514-123C-1EED-ED0B-CE1FDA4C9625}"/>
              </a:ext>
            </a:extLst>
          </p:cNvPr>
          <p:cNvSpPr txBox="1"/>
          <p:nvPr/>
        </p:nvSpPr>
        <p:spPr>
          <a:xfrm>
            <a:off x="8121849" y="3244334"/>
            <a:ext cx="2476377" cy="369332"/>
          </a:xfrm>
          <a:prstGeom prst="rect">
            <a:avLst/>
          </a:prstGeom>
          <a:noFill/>
        </p:spPr>
        <p:txBody>
          <a:bodyPr wrap="square" rtlCol="0">
            <a:spAutoFit/>
          </a:bodyPr>
          <a:lstStyle/>
          <a:p>
            <a:r>
              <a:rPr lang="en-GB" b="1" dirty="0">
                <a:sym typeface="Wingdings" pitchFamily="2" charset="2"/>
              </a:rPr>
              <a:t> False negatives</a:t>
            </a:r>
            <a:endParaRPr lang="en-GB" b="1" dirty="0"/>
          </a:p>
        </p:txBody>
      </p:sp>
      <p:graphicFrame>
        <p:nvGraphicFramePr>
          <p:cNvPr id="10" name="Table 9">
            <a:extLst>
              <a:ext uri="{FF2B5EF4-FFF2-40B4-BE49-F238E27FC236}">
                <a16:creationId xmlns:a16="http://schemas.microsoft.com/office/drawing/2014/main" id="{A1A8D201-4182-7D8F-E639-218E173D656B}"/>
              </a:ext>
            </a:extLst>
          </p:cNvPr>
          <p:cNvGraphicFramePr>
            <a:graphicFrameLocks noGrp="1"/>
          </p:cNvGraphicFramePr>
          <p:nvPr>
            <p:extLst>
              <p:ext uri="{D42A27DB-BD31-4B8C-83A1-F6EECF244321}">
                <p14:modId xmlns:p14="http://schemas.microsoft.com/office/powerpoint/2010/main" val="122498266"/>
              </p:ext>
            </p:extLst>
          </p:nvPr>
        </p:nvGraphicFramePr>
        <p:xfrm>
          <a:off x="1115171" y="1845645"/>
          <a:ext cx="6630905" cy="3200079"/>
        </p:xfrm>
        <a:graphic>
          <a:graphicData uri="http://schemas.openxmlformats.org/drawingml/2006/table">
            <a:tbl>
              <a:tblPr firstRow="1" firstCol="1" bandRow="1"/>
              <a:tblGrid>
                <a:gridCol w="1760130">
                  <a:extLst>
                    <a:ext uri="{9D8B030D-6E8A-4147-A177-3AD203B41FA5}">
                      <a16:colId xmlns:a16="http://schemas.microsoft.com/office/drawing/2014/main" val="4113042539"/>
                    </a:ext>
                  </a:extLst>
                </a:gridCol>
                <a:gridCol w="1760130">
                  <a:extLst>
                    <a:ext uri="{9D8B030D-6E8A-4147-A177-3AD203B41FA5}">
                      <a16:colId xmlns:a16="http://schemas.microsoft.com/office/drawing/2014/main" val="4062315842"/>
                    </a:ext>
                  </a:extLst>
                </a:gridCol>
                <a:gridCol w="3110645">
                  <a:extLst>
                    <a:ext uri="{9D8B030D-6E8A-4147-A177-3AD203B41FA5}">
                      <a16:colId xmlns:a16="http://schemas.microsoft.com/office/drawing/2014/main" val="3213998700"/>
                    </a:ext>
                  </a:extLst>
                </a:gridCol>
              </a:tblGrid>
              <a:tr h="783177">
                <a:tc>
                  <a:txBody>
                    <a:bodyPr/>
                    <a:lstStyle/>
                    <a:p>
                      <a:pPr algn="ctr">
                        <a:buNone/>
                      </a:pPr>
                      <a:r>
                        <a:rPr lang="en-GB" sz="1800" kern="100" dirty="0">
                          <a:effectLst/>
                          <a:latin typeface="Corbel" panose="020B0503020204020204" pitchFamily="34" charset="0"/>
                          <a:ea typeface="Times New Roman" panose="02020603050405020304" pitchFamily="18" charset="0"/>
                        </a:rPr>
                        <a:t>Lab number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sz="1800" kern="100" dirty="0">
                          <a:effectLst/>
                          <a:latin typeface="Corbel" panose="020B0503020204020204" pitchFamily="34" charset="0"/>
                          <a:ea typeface="Times New Roman" panose="02020603050405020304" pitchFamily="18" charset="0"/>
                        </a:rPr>
                        <a:t>Tetracycline</a:t>
                      </a:r>
                    </a:p>
                    <a:p>
                      <a:pPr algn="ctr">
                        <a:buNone/>
                      </a:pPr>
                      <a:r>
                        <a:rPr lang="en-GB" sz="1800" kern="100" dirty="0">
                          <a:effectLst/>
                          <a:latin typeface="Corbel" panose="020B0503020204020204" pitchFamily="34" charset="0"/>
                          <a:ea typeface="Times New Roman" panose="02020603050405020304" pitchFamily="18" charset="0"/>
                        </a:rPr>
                        <a:t>Phenotype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sz="1800" kern="100" dirty="0" err="1">
                          <a:effectLst/>
                          <a:latin typeface="Corbel" panose="020B0503020204020204" pitchFamily="34" charset="0"/>
                          <a:ea typeface="Times New Roman" panose="02020603050405020304" pitchFamily="18" charset="0"/>
                        </a:rPr>
                        <a:t>AMRFinder</a:t>
                      </a:r>
                      <a:r>
                        <a:rPr lang="en-GB" sz="1800" kern="100" dirty="0">
                          <a:effectLst/>
                          <a:latin typeface="Corbel" panose="020B0503020204020204" pitchFamily="34" charset="0"/>
                          <a:ea typeface="Times New Roman" panose="02020603050405020304" pitchFamily="18" charset="0"/>
                        </a:rPr>
                        <a:t> detection (Illumina assemblies) – default settings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3496983"/>
                  </a:ext>
                </a:extLst>
              </a:tr>
              <a:tr h="805634">
                <a:tc>
                  <a:txBody>
                    <a:bodyPr/>
                    <a:lstStyle/>
                    <a:p>
                      <a:pPr>
                        <a:buNone/>
                      </a:pPr>
                      <a:r>
                        <a:rPr lang="en-GB" sz="1800" kern="100">
                          <a:effectLst/>
                          <a:latin typeface="Corbel" panose="020B0503020204020204" pitchFamily="34" charset="0"/>
                          <a:ea typeface="Times New Roman" panose="02020603050405020304" pitchFamily="18" charset="0"/>
                        </a:rPr>
                        <a:t>IVR212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GB" sz="1800" kern="100" dirty="0">
                          <a:effectLst/>
                          <a:latin typeface="Corbel" panose="020B0503020204020204" pitchFamily="34" charset="0"/>
                          <a:ea typeface="Times New Roman" panose="02020603050405020304" pitchFamily="18" charset="0"/>
                        </a:rPr>
                        <a:t>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GB" sz="1800" kern="100" dirty="0">
                          <a:effectLst/>
                          <a:latin typeface="Corbel" panose="020B0503020204020204" pitchFamily="34" charset="0"/>
                          <a:ea typeface="Times New Roman" panose="02020603050405020304" pitchFamily="18" charset="0"/>
                        </a:rPr>
                        <a:t>No </a:t>
                      </a:r>
                      <a:r>
                        <a:rPr lang="en-GB" sz="1800" i="1" kern="100" dirty="0" err="1">
                          <a:effectLst/>
                          <a:latin typeface="Corbel" panose="020B0503020204020204" pitchFamily="34" charset="0"/>
                          <a:ea typeface="Times New Roman" panose="02020603050405020304" pitchFamily="18" charset="0"/>
                        </a:rPr>
                        <a:t>tet</a:t>
                      </a:r>
                      <a:r>
                        <a:rPr lang="en-GB" sz="1800" kern="100" dirty="0">
                          <a:effectLst/>
                          <a:latin typeface="Corbel" panose="020B0503020204020204" pitchFamily="34" charset="0"/>
                          <a:ea typeface="Times New Roman" panose="02020603050405020304" pitchFamily="18" charset="0"/>
                        </a:rPr>
                        <a:t> gene found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2561727"/>
                  </a:ext>
                </a:extLst>
              </a:tr>
              <a:tr h="805634">
                <a:tc>
                  <a:txBody>
                    <a:bodyPr/>
                    <a:lstStyle/>
                    <a:p>
                      <a:pPr>
                        <a:buNone/>
                      </a:pPr>
                      <a:r>
                        <a:rPr lang="en-GB" sz="1800" kern="100">
                          <a:effectLst/>
                          <a:latin typeface="Corbel" panose="020B0503020204020204" pitchFamily="34" charset="0"/>
                          <a:ea typeface="Times New Roman" panose="02020603050405020304" pitchFamily="18" charset="0"/>
                        </a:rPr>
                        <a:t>VREN1631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GB" sz="1800" kern="100" dirty="0">
                          <a:effectLst/>
                          <a:latin typeface="Corbel" panose="020B0503020204020204" pitchFamily="34" charset="0"/>
                          <a:ea typeface="Times New Roman" panose="02020603050405020304" pitchFamily="18" charset="0"/>
                        </a:rPr>
                        <a:t>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Corbel" panose="020B0503020204020204" pitchFamily="34" charset="0"/>
                          <a:ea typeface="Times New Roman" panose="02020603050405020304" pitchFamily="18" charset="0"/>
                        </a:rPr>
                        <a:t>No </a:t>
                      </a:r>
                      <a:r>
                        <a:rPr lang="en-GB" sz="1800" i="1" kern="100" dirty="0" err="1">
                          <a:effectLst/>
                          <a:latin typeface="Corbel" panose="020B0503020204020204" pitchFamily="34" charset="0"/>
                          <a:ea typeface="Times New Roman" panose="02020603050405020304" pitchFamily="18" charset="0"/>
                        </a:rPr>
                        <a:t>tet</a:t>
                      </a:r>
                      <a:r>
                        <a:rPr lang="en-GB" sz="1800" kern="100" dirty="0">
                          <a:effectLst/>
                          <a:latin typeface="Corbel" panose="020B0503020204020204" pitchFamily="34" charset="0"/>
                          <a:ea typeface="Times New Roman" panose="02020603050405020304" pitchFamily="18" charset="0"/>
                        </a:rPr>
                        <a:t> gene found</a:t>
                      </a:r>
                    </a:p>
                    <a:p>
                      <a:pPr>
                        <a:buNone/>
                      </a:pPr>
                      <a:endParaRPr lang="en-GB" sz="1800" kern="100" dirty="0">
                        <a:effectLst/>
                        <a:latin typeface="Corbel" panose="020B050302020402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5165083"/>
                  </a:ext>
                </a:extLst>
              </a:tr>
              <a:tr h="805634">
                <a:tc>
                  <a:txBody>
                    <a:bodyPr/>
                    <a:lstStyle/>
                    <a:p>
                      <a:pPr>
                        <a:buNone/>
                        <a:tabLst>
                          <a:tab pos="809625" algn="l"/>
                        </a:tabLst>
                      </a:pPr>
                      <a:r>
                        <a:rPr lang="en-GB" sz="1800" kern="100">
                          <a:effectLst/>
                          <a:latin typeface="Corbel" panose="020B0503020204020204" pitchFamily="34" charset="0"/>
                          <a:ea typeface="Times New Roman" panose="02020603050405020304" pitchFamily="18" charset="0"/>
                        </a:rPr>
                        <a:t>VREN0576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tabLst>
                          <a:tab pos="809625" algn="l"/>
                        </a:tabLst>
                      </a:pPr>
                      <a:r>
                        <a:rPr lang="en-GB" sz="1800" kern="100">
                          <a:effectLst/>
                          <a:latin typeface="Corbel" panose="020B0503020204020204" pitchFamily="34" charset="0"/>
                          <a:ea typeface="Times New Roman" panose="02020603050405020304" pitchFamily="18" charset="0"/>
                        </a:rPr>
                        <a:t>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809625" algn="l"/>
                        </a:tabLst>
                        <a:defRPr/>
                      </a:pPr>
                      <a:r>
                        <a:rPr lang="en-GB" sz="1800" kern="100" dirty="0">
                          <a:effectLst/>
                          <a:latin typeface="Corbel" panose="020B0503020204020204" pitchFamily="34" charset="0"/>
                          <a:ea typeface="Times New Roman" panose="02020603050405020304" pitchFamily="18" charset="0"/>
                        </a:rPr>
                        <a:t>No </a:t>
                      </a:r>
                      <a:r>
                        <a:rPr lang="en-GB" sz="1800" i="1" kern="100" dirty="0" err="1">
                          <a:effectLst/>
                          <a:latin typeface="Corbel" panose="020B0503020204020204" pitchFamily="34" charset="0"/>
                          <a:ea typeface="Times New Roman" panose="02020603050405020304" pitchFamily="18" charset="0"/>
                        </a:rPr>
                        <a:t>tet</a:t>
                      </a:r>
                      <a:r>
                        <a:rPr lang="en-GB" sz="1800" kern="100" dirty="0">
                          <a:effectLst/>
                          <a:latin typeface="Corbel" panose="020B0503020204020204" pitchFamily="34" charset="0"/>
                          <a:ea typeface="Times New Roman" panose="02020603050405020304" pitchFamily="18" charset="0"/>
                        </a:rPr>
                        <a:t> gene found</a:t>
                      </a:r>
                    </a:p>
                    <a:p>
                      <a:pPr>
                        <a:buNone/>
                        <a:tabLst>
                          <a:tab pos="809625" algn="l"/>
                        </a:tabLst>
                      </a:pPr>
                      <a:endParaRPr lang="en-GB" sz="1800" kern="100" dirty="0">
                        <a:effectLst/>
                        <a:latin typeface="Corbel" panose="020B0503020204020204" pitchFamily="34"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3858204"/>
                  </a:ext>
                </a:extLst>
              </a:tr>
            </a:tbl>
          </a:graphicData>
        </a:graphic>
      </p:graphicFrame>
      <p:sp>
        <p:nvSpPr>
          <p:cNvPr id="11" name="TextBox 10">
            <a:extLst>
              <a:ext uri="{FF2B5EF4-FFF2-40B4-BE49-F238E27FC236}">
                <a16:creationId xmlns:a16="http://schemas.microsoft.com/office/drawing/2014/main" id="{453DC5AC-F9CB-E670-803A-59B0FB7FD650}"/>
              </a:ext>
            </a:extLst>
          </p:cNvPr>
          <p:cNvSpPr txBox="1"/>
          <p:nvPr/>
        </p:nvSpPr>
        <p:spPr>
          <a:xfrm>
            <a:off x="1115171" y="5403860"/>
            <a:ext cx="10238629" cy="646331"/>
          </a:xfrm>
          <a:prstGeom prst="rect">
            <a:avLst/>
          </a:prstGeom>
          <a:noFill/>
        </p:spPr>
        <p:txBody>
          <a:bodyPr wrap="square">
            <a:spAutoFit/>
          </a:bodyPr>
          <a:lstStyle/>
          <a:p>
            <a:r>
              <a:rPr lang="en-GB" sz="1800" dirty="0">
                <a:effectLst/>
                <a:latin typeface="Corbel" panose="020B0503020204020204" pitchFamily="34" charset="0"/>
                <a:cs typeface="Times New Roman" panose="02020603050405020304" pitchFamily="18" charset="0"/>
                <a:sym typeface="Wingdings" pitchFamily="2" charset="2"/>
              </a:rPr>
              <a:t> </a:t>
            </a:r>
            <a:r>
              <a:rPr lang="en-GB" b="1" dirty="0"/>
              <a:t>Question</a:t>
            </a:r>
            <a:r>
              <a:rPr lang="en-GB" dirty="0"/>
              <a:t> Has </a:t>
            </a:r>
            <a:r>
              <a:rPr lang="en-GB" dirty="0" err="1"/>
              <a:t>AMRFinder</a:t>
            </a:r>
            <a:r>
              <a:rPr lang="en-GB" dirty="0"/>
              <a:t> identified any </a:t>
            </a:r>
            <a:r>
              <a:rPr lang="en-GB" i="1" dirty="0" err="1"/>
              <a:t>tet</a:t>
            </a:r>
            <a:r>
              <a:rPr lang="en-GB" dirty="0"/>
              <a:t> genes that could explain phenotypic tetracycline resistance of these strains? </a:t>
            </a:r>
          </a:p>
        </p:txBody>
      </p:sp>
      <p:sp>
        <p:nvSpPr>
          <p:cNvPr id="13" name="Rectangle 12">
            <a:extLst>
              <a:ext uri="{FF2B5EF4-FFF2-40B4-BE49-F238E27FC236}">
                <a16:creationId xmlns:a16="http://schemas.microsoft.com/office/drawing/2014/main" id="{99E5C4D5-02C6-7A0F-40AA-603171D2D20D}"/>
              </a:ext>
            </a:extLst>
          </p:cNvPr>
          <p:cNvSpPr/>
          <p:nvPr/>
        </p:nvSpPr>
        <p:spPr>
          <a:xfrm>
            <a:off x="974010" y="6356350"/>
            <a:ext cx="9954723" cy="307777"/>
          </a:xfrm>
          <a:prstGeom prst="rect">
            <a:avLst/>
          </a:prstGeom>
        </p:spPr>
        <p:txBody>
          <a:bodyPr wrap="square">
            <a:spAutoFit/>
          </a:bodyPr>
          <a:lstStyle/>
          <a:p>
            <a:r>
              <a:rPr lang="en-US" sz="1400" dirty="0">
                <a:effectLst/>
                <a:latin typeface="Arial" panose="020B0604020202020204" pitchFamily="34" charset="0"/>
                <a:ea typeface="Times New Roman" panose="02020603050405020304" pitchFamily="18" charset="0"/>
                <a:cs typeface="Arial" panose="020B0604020202020204" pitchFamily="34" charset="0"/>
              </a:rPr>
              <a:t>Source: García-González </a:t>
            </a:r>
            <a:r>
              <a:rPr lang="en-US" sz="1400" i="1" dirty="0">
                <a:effectLst/>
                <a:latin typeface="Arial" panose="020B0604020202020204" pitchFamily="34" charset="0"/>
                <a:ea typeface="Times New Roman" panose="02020603050405020304" pitchFamily="18" charset="0"/>
                <a:cs typeface="Arial" panose="020B0604020202020204" pitchFamily="34" charset="0"/>
              </a:rPr>
              <a:t>et al. </a:t>
            </a:r>
            <a:r>
              <a:rPr lang="en-US" sz="1400" dirty="0">
                <a:effectLst/>
                <a:latin typeface="Arial" panose="020B0604020202020204" pitchFamily="34" charset="0"/>
                <a:ea typeface="Times New Roman" panose="02020603050405020304" pitchFamily="18" charset="0"/>
                <a:cs typeface="Arial" panose="020B0604020202020204" pitchFamily="34" charset="0"/>
              </a:rPr>
              <a:t>2026. BioRxiv. https://</a:t>
            </a:r>
            <a:r>
              <a:rPr lang="en-US" sz="1400" dirty="0" err="1">
                <a:effectLst/>
                <a:latin typeface="Arial" panose="020B0604020202020204" pitchFamily="34" charset="0"/>
                <a:ea typeface="Times New Roman" panose="02020603050405020304" pitchFamily="18" charset="0"/>
                <a:cs typeface="Arial" panose="020B0604020202020204" pitchFamily="34" charset="0"/>
              </a:rPr>
              <a:t>doi.org</a:t>
            </a:r>
            <a:r>
              <a:rPr lang="en-US" sz="1400" dirty="0">
                <a:effectLst/>
                <a:latin typeface="Arial" panose="020B0604020202020204" pitchFamily="34" charset="0"/>
                <a:ea typeface="Times New Roman" panose="02020603050405020304" pitchFamily="18" charset="0"/>
                <a:cs typeface="Arial" panose="020B0604020202020204" pitchFamily="34" charset="0"/>
              </a:rPr>
              <a:t>/10.64898/2026.06.08.729070 </a:t>
            </a:r>
          </a:p>
        </p:txBody>
      </p:sp>
    </p:spTree>
    <p:extLst>
      <p:ext uri="{BB962C8B-B14F-4D97-AF65-F5344CB8AC3E}">
        <p14:creationId xmlns:p14="http://schemas.microsoft.com/office/powerpoint/2010/main" val="1838803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47146-7312-E147-2527-5B1CA3FD8CC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45D3C71-EAB3-0C6F-82EC-A50022953DCF}"/>
              </a:ext>
            </a:extLst>
          </p:cNvPr>
          <p:cNvSpPr>
            <a:spLocks noGrp="1"/>
          </p:cNvSpPr>
          <p:nvPr>
            <p:ph type="sldNum" sz="quarter" idx="12"/>
          </p:nvPr>
        </p:nvSpPr>
        <p:spPr/>
        <p:txBody>
          <a:bodyPr/>
          <a:lstStyle/>
          <a:p>
            <a:fld id="{75AEF4DF-2886-834E-8BD5-00D5F339C13C}" type="slidenum">
              <a:rPr lang="en-GB" smtClean="0"/>
              <a:t>14</a:t>
            </a:fld>
            <a:endParaRPr lang="en-GB"/>
          </a:p>
        </p:txBody>
      </p:sp>
      <p:graphicFrame>
        <p:nvGraphicFramePr>
          <p:cNvPr id="8" name="Table 7">
            <a:extLst>
              <a:ext uri="{FF2B5EF4-FFF2-40B4-BE49-F238E27FC236}">
                <a16:creationId xmlns:a16="http://schemas.microsoft.com/office/drawing/2014/main" id="{8E586A90-EE6F-8BD2-5CAB-2223F6449A17}"/>
              </a:ext>
            </a:extLst>
          </p:cNvPr>
          <p:cNvGraphicFramePr>
            <a:graphicFrameLocks noGrp="1"/>
          </p:cNvGraphicFramePr>
          <p:nvPr>
            <p:extLst>
              <p:ext uri="{D42A27DB-BD31-4B8C-83A1-F6EECF244321}">
                <p14:modId xmlns:p14="http://schemas.microsoft.com/office/powerpoint/2010/main" val="2499509064"/>
              </p:ext>
            </p:extLst>
          </p:nvPr>
        </p:nvGraphicFramePr>
        <p:xfrm>
          <a:off x="1115171" y="1845645"/>
          <a:ext cx="6603764" cy="3200079"/>
        </p:xfrm>
        <a:graphic>
          <a:graphicData uri="http://schemas.openxmlformats.org/drawingml/2006/table">
            <a:tbl>
              <a:tblPr firstRow="1" firstCol="1" bandRow="1"/>
              <a:tblGrid>
                <a:gridCol w="1760130">
                  <a:extLst>
                    <a:ext uri="{9D8B030D-6E8A-4147-A177-3AD203B41FA5}">
                      <a16:colId xmlns:a16="http://schemas.microsoft.com/office/drawing/2014/main" val="4113042539"/>
                    </a:ext>
                  </a:extLst>
                </a:gridCol>
                <a:gridCol w="1760130">
                  <a:extLst>
                    <a:ext uri="{9D8B030D-6E8A-4147-A177-3AD203B41FA5}">
                      <a16:colId xmlns:a16="http://schemas.microsoft.com/office/drawing/2014/main" val="4062315842"/>
                    </a:ext>
                  </a:extLst>
                </a:gridCol>
                <a:gridCol w="3083504">
                  <a:extLst>
                    <a:ext uri="{9D8B030D-6E8A-4147-A177-3AD203B41FA5}">
                      <a16:colId xmlns:a16="http://schemas.microsoft.com/office/drawing/2014/main" val="3819021673"/>
                    </a:ext>
                  </a:extLst>
                </a:gridCol>
              </a:tblGrid>
              <a:tr h="783177">
                <a:tc>
                  <a:txBody>
                    <a:bodyPr/>
                    <a:lstStyle/>
                    <a:p>
                      <a:pPr algn="ctr">
                        <a:buNone/>
                      </a:pPr>
                      <a:r>
                        <a:rPr lang="en-GB" sz="1800" kern="100" dirty="0">
                          <a:effectLst/>
                          <a:latin typeface="Corbel" panose="020B0503020204020204" pitchFamily="34" charset="0"/>
                          <a:ea typeface="Times New Roman" panose="02020603050405020304" pitchFamily="18" charset="0"/>
                        </a:rPr>
                        <a:t>Lab number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sz="1800" kern="100" dirty="0">
                          <a:effectLst/>
                          <a:latin typeface="Corbel" panose="020B0503020204020204" pitchFamily="34" charset="0"/>
                          <a:ea typeface="Times New Roman" panose="02020603050405020304" pitchFamily="18" charset="0"/>
                        </a:rPr>
                        <a:t>Tetracycline</a:t>
                      </a:r>
                    </a:p>
                    <a:p>
                      <a:pPr algn="ctr">
                        <a:buNone/>
                      </a:pPr>
                      <a:r>
                        <a:rPr lang="en-GB" sz="1800" kern="100" dirty="0">
                          <a:effectLst/>
                          <a:latin typeface="Corbel" panose="020B0503020204020204" pitchFamily="34" charset="0"/>
                          <a:ea typeface="Times New Roman" panose="02020603050405020304" pitchFamily="18" charset="0"/>
                        </a:rPr>
                        <a:t>Phenotype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sz="1800" kern="100" dirty="0" err="1">
                          <a:effectLst/>
                          <a:latin typeface="Corbel" panose="020B0503020204020204" pitchFamily="34" charset="0"/>
                          <a:ea typeface="Times New Roman" panose="02020603050405020304" pitchFamily="18" charset="0"/>
                        </a:rPr>
                        <a:t>AMRFinder</a:t>
                      </a:r>
                      <a:r>
                        <a:rPr lang="en-GB" sz="1800" kern="100" dirty="0">
                          <a:effectLst/>
                          <a:latin typeface="Corbel" panose="020B0503020204020204" pitchFamily="34" charset="0"/>
                          <a:ea typeface="Times New Roman" panose="02020603050405020304" pitchFamily="18" charset="0"/>
                        </a:rPr>
                        <a:t> detection (Hybrid assemblies)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3496983"/>
                  </a:ext>
                </a:extLst>
              </a:tr>
              <a:tr h="805634">
                <a:tc>
                  <a:txBody>
                    <a:bodyPr/>
                    <a:lstStyle/>
                    <a:p>
                      <a:pPr>
                        <a:buNone/>
                      </a:pPr>
                      <a:r>
                        <a:rPr lang="en-GB" sz="1800" kern="100">
                          <a:effectLst/>
                          <a:latin typeface="Corbel" panose="020B0503020204020204" pitchFamily="34" charset="0"/>
                          <a:ea typeface="Times New Roman" panose="02020603050405020304" pitchFamily="18" charset="0"/>
                        </a:rPr>
                        <a:t>IVR212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GB" sz="1800" kern="100" dirty="0">
                          <a:effectLst/>
                          <a:latin typeface="Corbel" panose="020B0503020204020204" pitchFamily="34" charset="0"/>
                          <a:ea typeface="Times New Roman" panose="02020603050405020304" pitchFamily="18" charset="0"/>
                        </a:rPr>
                        <a:t>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GB" sz="1800" kern="100" dirty="0">
                          <a:effectLst/>
                          <a:latin typeface="Corbel" panose="020B0503020204020204" pitchFamily="34" charset="0"/>
                          <a:ea typeface="Times New Roman" panose="02020603050405020304" pitchFamily="18" charset="0"/>
                        </a:rPr>
                        <a:t>2 </a:t>
                      </a:r>
                      <a:r>
                        <a:rPr lang="en-GB" sz="1800" i="1" kern="100" dirty="0" err="1">
                          <a:effectLst/>
                          <a:latin typeface="Corbel" panose="020B0503020204020204" pitchFamily="34" charset="0"/>
                          <a:ea typeface="Times New Roman" panose="02020603050405020304" pitchFamily="18" charset="0"/>
                        </a:rPr>
                        <a:t>tet</a:t>
                      </a:r>
                      <a:r>
                        <a:rPr lang="en-GB" sz="1800" i="1" kern="100" dirty="0">
                          <a:effectLst/>
                          <a:latin typeface="Corbel" panose="020B0503020204020204" pitchFamily="34" charset="0"/>
                          <a:ea typeface="Times New Roman" panose="02020603050405020304" pitchFamily="18" charset="0"/>
                        </a:rPr>
                        <a:t>(M)</a:t>
                      </a:r>
                      <a:r>
                        <a:rPr lang="en-GB" sz="1800" kern="100" dirty="0">
                          <a:effectLst/>
                          <a:latin typeface="Corbel" panose="020B0503020204020204" pitchFamily="34" charset="0"/>
                          <a:ea typeface="Times New Roman" panose="02020603050405020304" pitchFamily="18" charset="0"/>
                        </a:rPr>
                        <a:t> copies (100.00%, 58.69%)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2561727"/>
                  </a:ext>
                </a:extLst>
              </a:tr>
              <a:tr h="805634">
                <a:tc>
                  <a:txBody>
                    <a:bodyPr/>
                    <a:lstStyle/>
                    <a:p>
                      <a:pPr>
                        <a:buNone/>
                      </a:pPr>
                      <a:r>
                        <a:rPr lang="en-GB" sz="1800" kern="100">
                          <a:effectLst/>
                          <a:latin typeface="Corbel" panose="020B0503020204020204" pitchFamily="34" charset="0"/>
                          <a:ea typeface="Times New Roman" panose="02020603050405020304" pitchFamily="18" charset="0"/>
                        </a:rPr>
                        <a:t>VREN1631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GB" sz="1800" kern="100" dirty="0">
                          <a:effectLst/>
                          <a:latin typeface="Corbel" panose="020B0503020204020204" pitchFamily="34" charset="0"/>
                          <a:ea typeface="Times New Roman" panose="02020603050405020304" pitchFamily="18" charset="0"/>
                        </a:rPr>
                        <a:t>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GB" sz="1800" kern="100" dirty="0">
                          <a:effectLst/>
                          <a:latin typeface="Corbel" panose="020B0503020204020204" pitchFamily="34" charset="0"/>
                          <a:ea typeface="Times New Roman" panose="02020603050405020304" pitchFamily="18" charset="0"/>
                        </a:rPr>
                        <a:t>2 </a:t>
                      </a:r>
                      <a:r>
                        <a:rPr lang="en-GB" sz="1800" i="1" kern="100" dirty="0" err="1">
                          <a:effectLst/>
                          <a:latin typeface="Corbel" panose="020B0503020204020204" pitchFamily="34" charset="0"/>
                          <a:ea typeface="Times New Roman" panose="02020603050405020304" pitchFamily="18" charset="0"/>
                        </a:rPr>
                        <a:t>tet</a:t>
                      </a:r>
                      <a:r>
                        <a:rPr lang="en-GB" sz="1800" i="1" kern="100" dirty="0">
                          <a:effectLst/>
                          <a:latin typeface="Corbel" panose="020B0503020204020204" pitchFamily="34" charset="0"/>
                          <a:ea typeface="Times New Roman" panose="02020603050405020304" pitchFamily="18" charset="0"/>
                        </a:rPr>
                        <a:t>(M)</a:t>
                      </a:r>
                      <a:r>
                        <a:rPr lang="en-GB" sz="1800" kern="100" dirty="0">
                          <a:effectLst/>
                          <a:latin typeface="Corbel" panose="020B0503020204020204" pitchFamily="34" charset="0"/>
                          <a:ea typeface="Times New Roman" panose="02020603050405020304" pitchFamily="18" charset="0"/>
                        </a:rPr>
                        <a:t> copies (100.00%, 58.69%)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5165083"/>
                  </a:ext>
                </a:extLst>
              </a:tr>
              <a:tr h="805634">
                <a:tc>
                  <a:txBody>
                    <a:bodyPr/>
                    <a:lstStyle/>
                    <a:p>
                      <a:pPr>
                        <a:buNone/>
                        <a:tabLst>
                          <a:tab pos="809625" algn="l"/>
                        </a:tabLst>
                      </a:pPr>
                      <a:r>
                        <a:rPr lang="en-GB" sz="1800" kern="100">
                          <a:effectLst/>
                          <a:latin typeface="Corbel" panose="020B0503020204020204" pitchFamily="34" charset="0"/>
                          <a:ea typeface="Times New Roman" panose="02020603050405020304" pitchFamily="18" charset="0"/>
                        </a:rPr>
                        <a:t>VREN0576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tabLst>
                          <a:tab pos="809625" algn="l"/>
                        </a:tabLst>
                      </a:pPr>
                      <a:r>
                        <a:rPr lang="en-GB" sz="1800" kern="100">
                          <a:effectLst/>
                          <a:latin typeface="Corbel" panose="020B0503020204020204" pitchFamily="34" charset="0"/>
                          <a:ea typeface="Times New Roman" panose="02020603050405020304" pitchFamily="18" charset="0"/>
                        </a:rPr>
                        <a:t>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tabLst>
                          <a:tab pos="809625" algn="l"/>
                        </a:tabLst>
                      </a:pPr>
                      <a:r>
                        <a:rPr lang="en-GB" sz="1800" kern="100" dirty="0">
                          <a:effectLst/>
                          <a:latin typeface="Corbel" panose="020B0503020204020204" pitchFamily="34" charset="0"/>
                          <a:ea typeface="Times New Roman" panose="02020603050405020304" pitchFamily="18" charset="0"/>
                        </a:rPr>
                        <a:t>2 </a:t>
                      </a:r>
                      <a:r>
                        <a:rPr lang="en-GB" sz="1800" i="1" kern="100" dirty="0" err="1">
                          <a:effectLst/>
                          <a:latin typeface="Corbel" panose="020B0503020204020204" pitchFamily="34" charset="0"/>
                          <a:ea typeface="Times New Roman" panose="02020603050405020304" pitchFamily="18" charset="0"/>
                        </a:rPr>
                        <a:t>tet</a:t>
                      </a:r>
                      <a:r>
                        <a:rPr lang="en-GB" sz="1800" i="1" kern="100" dirty="0">
                          <a:effectLst/>
                          <a:latin typeface="Corbel" panose="020B0503020204020204" pitchFamily="34" charset="0"/>
                          <a:ea typeface="Times New Roman" panose="02020603050405020304" pitchFamily="18" charset="0"/>
                        </a:rPr>
                        <a:t>(M)</a:t>
                      </a:r>
                      <a:r>
                        <a:rPr lang="en-GB" sz="1800" kern="100" dirty="0">
                          <a:effectLst/>
                          <a:latin typeface="Corbel" panose="020B0503020204020204" pitchFamily="34" charset="0"/>
                          <a:ea typeface="Times New Roman" panose="02020603050405020304" pitchFamily="18" charset="0"/>
                        </a:rPr>
                        <a:t> copies (100.00%, 58.69%)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3858204"/>
                  </a:ext>
                </a:extLst>
              </a:tr>
            </a:tbl>
          </a:graphicData>
        </a:graphic>
      </p:graphicFrame>
      <p:sp>
        <p:nvSpPr>
          <p:cNvPr id="2" name="TextBox 1">
            <a:extLst>
              <a:ext uri="{FF2B5EF4-FFF2-40B4-BE49-F238E27FC236}">
                <a16:creationId xmlns:a16="http://schemas.microsoft.com/office/drawing/2014/main" id="{0054C3D9-2B96-E410-891C-4FB7601D9BC8}"/>
              </a:ext>
            </a:extLst>
          </p:cNvPr>
          <p:cNvSpPr txBox="1"/>
          <p:nvPr/>
        </p:nvSpPr>
        <p:spPr>
          <a:xfrm>
            <a:off x="1115171" y="5403860"/>
            <a:ext cx="10238629" cy="646331"/>
          </a:xfrm>
          <a:prstGeom prst="rect">
            <a:avLst/>
          </a:prstGeom>
          <a:noFill/>
        </p:spPr>
        <p:txBody>
          <a:bodyPr wrap="square">
            <a:spAutoFit/>
          </a:bodyPr>
          <a:lstStyle/>
          <a:p>
            <a:r>
              <a:rPr lang="en-GB" sz="1800" dirty="0">
                <a:effectLst/>
                <a:latin typeface="Corbel" panose="020B0503020204020204" pitchFamily="34" charset="0"/>
                <a:cs typeface="Times New Roman" panose="02020603050405020304" pitchFamily="18" charset="0"/>
                <a:sym typeface="Wingdings" pitchFamily="2" charset="2"/>
              </a:rPr>
              <a:t> </a:t>
            </a:r>
            <a:r>
              <a:rPr lang="en-GB" b="1" dirty="0"/>
              <a:t>Question</a:t>
            </a:r>
            <a:r>
              <a:rPr lang="en-GB" dirty="0"/>
              <a:t> Has </a:t>
            </a:r>
            <a:r>
              <a:rPr lang="en-GB" dirty="0" err="1"/>
              <a:t>AMRFinder</a:t>
            </a:r>
            <a:r>
              <a:rPr lang="en-GB" dirty="0"/>
              <a:t> identified any </a:t>
            </a:r>
            <a:r>
              <a:rPr lang="en-GB" i="1" dirty="0" err="1"/>
              <a:t>tet</a:t>
            </a:r>
            <a:r>
              <a:rPr lang="en-GB" dirty="0"/>
              <a:t> genes in the hybrid assemblies? How many copies and in what coverage?</a:t>
            </a:r>
          </a:p>
        </p:txBody>
      </p:sp>
      <p:sp>
        <p:nvSpPr>
          <p:cNvPr id="4" name="Rectangle 3">
            <a:extLst>
              <a:ext uri="{FF2B5EF4-FFF2-40B4-BE49-F238E27FC236}">
                <a16:creationId xmlns:a16="http://schemas.microsoft.com/office/drawing/2014/main" id="{02649C46-95CE-1900-E068-6D833E4D2814}"/>
              </a:ext>
            </a:extLst>
          </p:cNvPr>
          <p:cNvSpPr/>
          <p:nvPr/>
        </p:nvSpPr>
        <p:spPr>
          <a:xfrm>
            <a:off x="974010" y="6356350"/>
            <a:ext cx="9954723" cy="307777"/>
          </a:xfrm>
          <a:prstGeom prst="rect">
            <a:avLst/>
          </a:prstGeom>
        </p:spPr>
        <p:txBody>
          <a:bodyPr wrap="square">
            <a:spAutoFit/>
          </a:bodyPr>
          <a:lstStyle/>
          <a:p>
            <a:r>
              <a:rPr lang="en-US" sz="1400" dirty="0">
                <a:effectLst/>
                <a:latin typeface="Arial" panose="020B0604020202020204" pitchFamily="34" charset="0"/>
                <a:ea typeface="Times New Roman" panose="02020603050405020304" pitchFamily="18" charset="0"/>
                <a:cs typeface="Arial" panose="020B0604020202020204" pitchFamily="34" charset="0"/>
              </a:rPr>
              <a:t>Source: García-González </a:t>
            </a:r>
            <a:r>
              <a:rPr lang="en-US" sz="1400" i="1" dirty="0">
                <a:effectLst/>
                <a:latin typeface="Arial" panose="020B0604020202020204" pitchFamily="34" charset="0"/>
                <a:ea typeface="Times New Roman" panose="02020603050405020304" pitchFamily="18" charset="0"/>
                <a:cs typeface="Arial" panose="020B0604020202020204" pitchFamily="34" charset="0"/>
              </a:rPr>
              <a:t>et al. </a:t>
            </a:r>
            <a:r>
              <a:rPr lang="en-US" sz="1400" dirty="0">
                <a:effectLst/>
                <a:latin typeface="Arial" panose="020B0604020202020204" pitchFamily="34" charset="0"/>
                <a:ea typeface="Times New Roman" panose="02020603050405020304" pitchFamily="18" charset="0"/>
                <a:cs typeface="Arial" panose="020B0604020202020204" pitchFamily="34" charset="0"/>
              </a:rPr>
              <a:t>2026. BioRxiv. https://</a:t>
            </a:r>
            <a:r>
              <a:rPr lang="en-US" sz="1400" dirty="0" err="1">
                <a:effectLst/>
                <a:latin typeface="Arial" panose="020B0604020202020204" pitchFamily="34" charset="0"/>
                <a:ea typeface="Times New Roman" panose="02020603050405020304" pitchFamily="18" charset="0"/>
                <a:cs typeface="Arial" panose="020B0604020202020204" pitchFamily="34" charset="0"/>
              </a:rPr>
              <a:t>doi.org</a:t>
            </a:r>
            <a:r>
              <a:rPr lang="en-US" sz="1400" dirty="0">
                <a:effectLst/>
                <a:latin typeface="Arial" panose="020B0604020202020204" pitchFamily="34" charset="0"/>
                <a:ea typeface="Times New Roman" panose="02020603050405020304" pitchFamily="18" charset="0"/>
                <a:cs typeface="Arial" panose="020B0604020202020204" pitchFamily="34" charset="0"/>
              </a:rPr>
              <a:t>/10.64898/2026.06.08.729070 </a:t>
            </a:r>
          </a:p>
        </p:txBody>
      </p:sp>
      <p:sp>
        <p:nvSpPr>
          <p:cNvPr id="3" name="TextBox 2">
            <a:extLst>
              <a:ext uri="{FF2B5EF4-FFF2-40B4-BE49-F238E27FC236}">
                <a16:creationId xmlns:a16="http://schemas.microsoft.com/office/drawing/2014/main" id="{D328957C-4DE6-91C4-C958-7066F9DEB806}"/>
              </a:ext>
            </a:extLst>
          </p:cNvPr>
          <p:cNvSpPr txBox="1"/>
          <p:nvPr/>
        </p:nvSpPr>
        <p:spPr>
          <a:xfrm>
            <a:off x="734289" y="404195"/>
            <a:ext cx="10381730" cy="954107"/>
          </a:xfrm>
          <a:prstGeom prst="rect">
            <a:avLst/>
          </a:prstGeom>
          <a:noFill/>
        </p:spPr>
        <p:txBody>
          <a:bodyPr wrap="square">
            <a:spAutoFit/>
          </a:bodyPr>
          <a:lstStyle/>
          <a:p>
            <a:r>
              <a:rPr lang="en-GB" sz="2800" b="1" dirty="0"/>
              <a:t>Case study 2: Effect of duplicated and truncated AMR genes on genotypic AMR determination</a:t>
            </a:r>
          </a:p>
        </p:txBody>
      </p:sp>
    </p:spTree>
    <p:extLst>
      <p:ext uri="{BB962C8B-B14F-4D97-AF65-F5344CB8AC3E}">
        <p14:creationId xmlns:p14="http://schemas.microsoft.com/office/powerpoint/2010/main" val="2373967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1C260-847A-7702-30E7-EA4476BBA1F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6D16921-9255-8460-E381-22848F9EF989}"/>
              </a:ext>
            </a:extLst>
          </p:cNvPr>
          <p:cNvSpPr>
            <a:spLocks noGrp="1"/>
          </p:cNvSpPr>
          <p:nvPr>
            <p:ph type="sldNum" sz="quarter" idx="12"/>
          </p:nvPr>
        </p:nvSpPr>
        <p:spPr/>
        <p:txBody>
          <a:bodyPr/>
          <a:lstStyle/>
          <a:p>
            <a:fld id="{75AEF4DF-2886-834E-8BD5-00D5F339C13C}" type="slidenum">
              <a:rPr lang="en-GB" smtClean="0"/>
              <a:t>15</a:t>
            </a:fld>
            <a:endParaRPr lang="en-GB"/>
          </a:p>
        </p:txBody>
      </p:sp>
      <p:graphicFrame>
        <p:nvGraphicFramePr>
          <p:cNvPr id="8" name="Table 7">
            <a:extLst>
              <a:ext uri="{FF2B5EF4-FFF2-40B4-BE49-F238E27FC236}">
                <a16:creationId xmlns:a16="http://schemas.microsoft.com/office/drawing/2014/main" id="{4F69374E-A53F-769C-5039-2632820B8E39}"/>
              </a:ext>
            </a:extLst>
          </p:cNvPr>
          <p:cNvGraphicFramePr>
            <a:graphicFrameLocks noGrp="1"/>
          </p:cNvGraphicFramePr>
          <p:nvPr>
            <p:extLst>
              <p:ext uri="{D42A27DB-BD31-4B8C-83A1-F6EECF244321}">
                <p14:modId xmlns:p14="http://schemas.microsoft.com/office/powerpoint/2010/main" val="3788196337"/>
              </p:ext>
            </p:extLst>
          </p:nvPr>
        </p:nvGraphicFramePr>
        <p:xfrm>
          <a:off x="1115171" y="1845645"/>
          <a:ext cx="9714409" cy="3252057"/>
        </p:xfrm>
        <a:graphic>
          <a:graphicData uri="http://schemas.openxmlformats.org/drawingml/2006/table">
            <a:tbl>
              <a:tblPr firstRow="1" firstCol="1" bandRow="1"/>
              <a:tblGrid>
                <a:gridCol w="1760130">
                  <a:extLst>
                    <a:ext uri="{9D8B030D-6E8A-4147-A177-3AD203B41FA5}">
                      <a16:colId xmlns:a16="http://schemas.microsoft.com/office/drawing/2014/main" val="4113042539"/>
                    </a:ext>
                  </a:extLst>
                </a:gridCol>
                <a:gridCol w="1760130">
                  <a:extLst>
                    <a:ext uri="{9D8B030D-6E8A-4147-A177-3AD203B41FA5}">
                      <a16:colId xmlns:a16="http://schemas.microsoft.com/office/drawing/2014/main" val="4062315842"/>
                    </a:ext>
                  </a:extLst>
                </a:gridCol>
                <a:gridCol w="3110645">
                  <a:extLst>
                    <a:ext uri="{9D8B030D-6E8A-4147-A177-3AD203B41FA5}">
                      <a16:colId xmlns:a16="http://schemas.microsoft.com/office/drawing/2014/main" val="3213998700"/>
                    </a:ext>
                  </a:extLst>
                </a:gridCol>
                <a:gridCol w="3083504">
                  <a:extLst>
                    <a:ext uri="{9D8B030D-6E8A-4147-A177-3AD203B41FA5}">
                      <a16:colId xmlns:a16="http://schemas.microsoft.com/office/drawing/2014/main" val="3819021673"/>
                    </a:ext>
                  </a:extLst>
                </a:gridCol>
              </a:tblGrid>
              <a:tr h="783177">
                <a:tc>
                  <a:txBody>
                    <a:bodyPr/>
                    <a:lstStyle/>
                    <a:p>
                      <a:pPr algn="ctr">
                        <a:buNone/>
                      </a:pPr>
                      <a:r>
                        <a:rPr lang="en-GB" sz="1800" kern="100" dirty="0">
                          <a:effectLst/>
                          <a:latin typeface="Corbel" panose="020B0503020204020204" pitchFamily="34" charset="0"/>
                          <a:ea typeface="Times New Roman" panose="02020603050405020304" pitchFamily="18" charset="0"/>
                        </a:rPr>
                        <a:t>Lab number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sz="1800" kern="100" dirty="0">
                          <a:effectLst/>
                          <a:latin typeface="Corbel" panose="020B0503020204020204" pitchFamily="34" charset="0"/>
                          <a:ea typeface="Times New Roman" panose="02020603050405020304" pitchFamily="18" charset="0"/>
                        </a:rPr>
                        <a:t>Tetracycline</a:t>
                      </a:r>
                    </a:p>
                    <a:p>
                      <a:pPr algn="ctr">
                        <a:buNone/>
                      </a:pPr>
                      <a:r>
                        <a:rPr lang="en-GB" sz="1800" kern="100" dirty="0">
                          <a:effectLst/>
                          <a:latin typeface="Corbel" panose="020B0503020204020204" pitchFamily="34" charset="0"/>
                          <a:ea typeface="Times New Roman" panose="02020603050405020304" pitchFamily="18" charset="0"/>
                        </a:rPr>
                        <a:t>Phenotype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sz="1800" kern="100" dirty="0" err="1">
                          <a:effectLst/>
                          <a:latin typeface="Corbel" panose="020B0503020204020204" pitchFamily="34" charset="0"/>
                          <a:ea typeface="Times New Roman" panose="02020603050405020304" pitchFamily="18" charset="0"/>
                        </a:rPr>
                        <a:t>AMRFinder</a:t>
                      </a:r>
                      <a:r>
                        <a:rPr lang="en-GB" sz="1800" kern="100" dirty="0">
                          <a:effectLst/>
                          <a:latin typeface="Corbel" panose="020B0503020204020204" pitchFamily="34" charset="0"/>
                          <a:ea typeface="Times New Roman" panose="02020603050405020304" pitchFamily="18" charset="0"/>
                        </a:rPr>
                        <a:t> detection (Illumina assemblies)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sz="1800" kern="100" dirty="0" err="1">
                          <a:effectLst/>
                          <a:latin typeface="Corbel" panose="020B0503020204020204" pitchFamily="34" charset="0"/>
                          <a:ea typeface="Times New Roman" panose="02020603050405020304" pitchFamily="18" charset="0"/>
                        </a:rPr>
                        <a:t>AMRFinder</a:t>
                      </a:r>
                      <a:r>
                        <a:rPr lang="en-GB" sz="1800" kern="100" dirty="0">
                          <a:effectLst/>
                          <a:latin typeface="Corbel" panose="020B0503020204020204" pitchFamily="34" charset="0"/>
                          <a:ea typeface="Times New Roman" panose="02020603050405020304" pitchFamily="18" charset="0"/>
                        </a:rPr>
                        <a:t> detection (Hybrid assemblies)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3496983"/>
                  </a:ext>
                </a:extLst>
              </a:tr>
              <a:tr h="805634">
                <a:tc>
                  <a:txBody>
                    <a:bodyPr/>
                    <a:lstStyle/>
                    <a:p>
                      <a:pPr>
                        <a:buNone/>
                      </a:pPr>
                      <a:r>
                        <a:rPr lang="en-GB" sz="1800" kern="100">
                          <a:effectLst/>
                          <a:latin typeface="Corbel" panose="020B0503020204020204" pitchFamily="34" charset="0"/>
                          <a:ea typeface="Times New Roman" panose="02020603050405020304" pitchFamily="18" charset="0"/>
                        </a:rPr>
                        <a:t>IVR212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GB" sz="1800" kern="100" dirty="0">
                          <a:effectLst/>
                          <a:latin typeface="Corbel" panose="020B0503020204020204" pitchFamily="34" charset="0"/>
                          <a:ea typeface="Times New Roman" panose="02020603050405020304" pitchFamily="18" charset="0"/>
                        </a:rPr>
                        <a:t>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GB" sz="1800" kern="100" dirty="0">
                          <a:effectLst/>
                          <a:latin typeface="Corbel" panose="020B0503020204020204" pitchFamily="34" charset="0"/>
                          <a:ea typeface="Times New Roman" panose="02020603050405020304" pitchFamily="18" charset="0"/>
                        </a:rPr>
                        <a:t>4 </a:t>
                      </a:r>
                      <a:r>
                        <a:rPr lang="en-GB" sz="1800" i="1" kern="100" dirty="0" err="1">
                          <a:effectLst/>
                          <a:latin typeface="Corbel" panose="020B0503020204020204" pitchFamily="34" charset="0"/>
                          <a:ea typeface="Times New Roman" panose="02020603050405020304" pitchFamily="18" charset="0"/>
                        </a:rPr>
                        <a:t>tet</a:t>
                      </a:r>
                      <a:r>
                        <a:rPr lang="en-GB" sz="1800" i="1" kern="100" dirty="0">
                          <a:effectLst/>
                          <a:latin typeface="Corbel" panose="020B0503020204020204" pitchFamily="34" charset="0"/>
                          <a:ea typeface="Times New Roman" panose="02020603050405020304" pitchFamily="18" charset="0"/>
                        </a:rPr>
                        <a:t>(M)</a:t>
                      </a:r>
                      <a:r>
                        <a:rPr lang="en-GB" sz="1800" kern="100" dirty="0">
                          <a:effectLst/>
                          <a:latin typeface="Corbel" panose="020B0503020204020204" pitchFamily="34" charset="0"/>
                          <a:ea typeface="Times New Roman" panose="02020603050405020304" pitchFamily="18" charset="0"/>
                        </a:rPr>
                        <a:t> copies/contigs (31.92%, 31.92%, 41.78%, 32.39%)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GB" sz="1800" kern="100" dirty="0">
                          <a:effectLst/>
                          <a:latin typeface="Corbel" panose="020B0503020204020204" pitchFamily="34" charset="0"/>
                          <a:ea typeface="Times New Roman" panose="02020603050405020304" pitchFamily="18" charset="0"/>
                        </a:rPr>
                        <a:t>2 </a:t>
                      </a:r>
                      <a:r>
                        <a:rPr lang="en-GB" sz="1800" i="1" kern="100" dirty="0" err="1">
                          <a:effectLst/>
                          <a:latin typeface="Corbel" panose="020B0503020204020204" pitchFamily="34" charset="0"/>
                          <a:ea typeface="Times New Roman" panose="02020603050405020304" pitchFamily="18" charset="0"/>
                        </a:rPr>
                        <a:t>tet</a:t>
                      </a:r>
                      <a:r>
                        <a:rPr lang="en-GB" sz="1800" i="1" kern="100" dirty="0">
                          <a:effectLst/>
                          <a:latin typeface="Corbel" panose="020B0503020204020204" pitchFamily="34" charset="0"/>
                          <a:ea typeface="Times New Roman" panose="02020603050405020304" pitchFamily="18" charset="0"/>
                        </a:rPr>
                        <a:t>(M)</a:t>
                      </a:r>
                      <a:r>
                        <a:rPr lang="en-GB" sz="1800" kern="100" dirty="0">
                          <a:effectLst/>
                          <a:latin typeface="Corbel" panose="020B0503020204020204" pitchFamily="34" charset="0"/>
                          <a:ea typeface="Times New Roman" panose="02020603050405020304" pitchFamily="18" charset="0"/>
                        </a:rPr>
                        <a:t> copies (100.00%, 58.69%)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2561727"/>
                  </a:ext>
                </a:extLst>
              </a:tr>
              <a:tr h="805634">
                <a:tc>
                  <a:txBody>
                    <a:bodyPr/>
                    <a:lstStyle/>
                    <a:p>
                      <a:pPr>
                        <a:buNone/>
                      </a:pPr>
                      <a:r>
                        <a:rPr lang="en-GB" sz="1800" kern="100">
                          <a:effectLst/>
                          <a:latin typeface="Corbel" panose="020B0503020204020204" pitchFamily="34" charset="0"/>
                          <a:ea typeface="Times New Roman" panose="02020603050405020304" pitchFamily="18" charset="0"/>
                        </a:rPr>
                        <a:t>VREN1631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GB" sz="1800" kern="100" dirty="0">
                          <a:effectLst/>
                          <a:latin typeface="Corbel" panose="020B0503020204020204" pitchFamily="34" charset="0"/>
                          <a:ea typeface="Times New Roman" panose="02020603050405020304" pitchFamily="18" charset="0"/>
                        </a:rPr>
                        <a:t>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GB" sz="1800" kern="100" dirty="0">
                          <a:effectLst/>
                          <a:latin typeface="Corbel" panose="020B0503020204020204" pitchFamily="34" charset="0"/>
                          <a:ea typeface="Times New Roman" panose="02020603050405020304" pitchFamily="18" charset="0"/>
                        </a:rPr>
                        <a:t>2 </a:t>
                      </a:r>
                      <a:r>
                        <a:rPr lang="en-GB" sz="1800" i="1" kern="100" dirty="0" err="1">
                          <a:effectLst/>
                          <a:latin typeface="Corbel" panose="020B0503020204020204" pitchFamily="34" charset="0"/>
                          <a:ea typeface="Times New Roman" panose="02020603050405020304" pitchFamily="18" charset="0"/>
                        </a:rPr>
                        <a:t>tet</a:t>
                      </a:r>
                      <a:r>
                        <a:rPr lang="en-GB" sz="1800" i="1" kern="100" dirty="0">
                          <a:effectLst/>
                          <a:latin typeface="Corbel" panose="020B0503020204020204" pitchFamily="34" charset="0"/>
                          <a:ea typeface="Times New Roman" panose="02020603050405020304" pitchFamily="18" charset="0"/>
                        </a:rPr>
                        <a:t>(M)</a:t>
                      </a:r>
                      <a:r>
                        <a:rPr lang="en-GB" sz="1800" kern="100" dirty="0">
                          <a:effectLst/>
                          <a:latin typeface="Corbel" panose="020B0503020204020204" pitchFamily="34" charset="0"/>
                          <a:ea typeface="Times New Roman" panose="02020603050405020304" pitchFamily="18" charset="0"/>
                        </a:rPr>
                        <a:t> copies/contigs (41.78%, 32.39%)</a:t>
                      </a:r>
                    </a:p>
                    <a:p>
                      <a:pPr>
                        <a:buNone/>
                      </a:pPr>
                      <a:r>
                        <a:rPr lang="en-GB" sz="1800" kern="100" dirty="0">
                          <a:effectLst/>
                          <a:latin typeface="Corbel" panose="020B0503020204020204" pitchFamily="34" charset="0"/>
                          <a:ea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GB" sz="1800" kern="100" dirty="0">
                          <a:effectLst/>
                          <a:latin typeface="Corbel" panose="020B0503020204020204" pitchFamily="34" charset="0"/>
                          <a:ea typeface="Times New Roman" panose="02020603050405020304" pitchFamily="18" charset="0"/>
                        </a:rPr>
                        <a:t>2 </a:t>
                      </a:r>
                      <a:r>
                        <a:rPr lang="en-GB" sz="1800" i="1" kern="100" dirty="0" err="1">
                          <a:effectLst/>
                          <a:latin typeface="Corbel" panose="020B0503020204020204" pitchFamily="34" charset="0"/>
                          <a:ea typeface="Times New Roman" panose="02020603050405020304" pitchFamily="18" charset="0"/>
                        </a:rPr>
                        <a:t>tet</a:t>
                      </a:r>
                      <a:r>
                        <a:rPr lang="en-GB" sz="1800" i="1" kern="100" dirty="0">
                          <a:effectLst/>
                          <a:latin typeface="Corbel" panose="020B0503020204020204" pitchFamily="34" charset="0"/>
                          <a:ea typeface="Times New Roman" panose="02020603050405020304" pitchFamily="18" charset="0"/>
                        </a:rPr>
                        <a:t>(M)</a:t>
                      </a:r>
                      <a:r>
                        <a:rPr lang="en-GB" sz="1800" kern="100" dirty="0">
                          <a:effectLst/>
                          <a:latin typeface="Corbel" panose="020B0503020204020204" pitchFamily="34" charset="0"/>
                          <a:ea typeface="Times New Roman" panose="02020603050405020304" pitchFamily="18" charset="0"/>
                        </a:rPr>
                        <a:t> copies (100.00%, 58.69%)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5165083"/>
                  </a:ext>
                </a:extLst>
              </a:tr>
              <a:tr h="805634">
                <a:tc>
                  <a:txBody>
                    <a:bodyPr/>
                    <a:lstStyle/>
                    <a:p>
                      <a:pPr>
                        <a:buNone/>
                        <a:tabLst>
                          <a:tab pos="809625" algn="l"/>
                        </a:tabLst>
                      </a:pPr>
                      <a:r>
                        <a:rPr lang="en-GB" sz="1800" kern="100">
                          <a:effectLst/>
                          <a:latin typeface="Corbel" panose="020B0503020204020204" pitchFamily="34" charset="0"/>
                          <a:ea typeface="Times New Roman" panose="02020603050405020304" pitchFamily="18" charset="0"/>
                        </a:rPr>
                        <a:t>VREN0576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tabLst>
                          <a:tab pos="809625" algn="l"/>
                        </a:tabLst>
                      </a:pPr>
                      <a:r>
                        <a:rPr lang="en-GB" sz="1800" kern="100">
                          <a:effectLst/>
                          <a:latin typeface="Corbel" panose="020B0503020204020204" pitchFamily="34" charset="0"/>
                          <a:ea typeface="Times New Roman" panose="02020603050405020304" pitchFamily="18" charset="0"/>
                        </a:rPr>
                        <a:t>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tabLst>
                          <a:tab pos="809625" algn="l"/>
                        </a:tabLst>
                      </a:pPr>
                      <a:r>
                        <a:rPr lang="en-GB" sz="1800" kern="100">
                          <a:effectLst/>
                          <a:latin typeface="Corbel" panose="020B0503020204020204" pitchFamily="34" charset="0"/>
                          <a:ea typeface="Times New Roman" panose="02020603050405020304" pitchFamily="18" charset="0"/>
                        </a:rPr>
                        <a:t>4 </a:t>
                      </a:r>
                      <a:r>
                        <a:rPr lang="en-GB" sz="1800" i="1" kern="100">
                          <a:effectLst/>
                          <a:latin typeface="Corbel" panose="020B0503020204020204" pitchFamily="34" charset="0"/>
                          <a:ea typeface="Times New Roman" panose="02020603050405020304" pitchFamily="18" charset="0"/>
                        </a:rPr>
                        <a:t>tet(M)</a:t>
                      </a:r>
                      <a:r>
                        <a:rPr lang="en-GB" sz="1800" kern="100">
                          <a:effectLst/>
                          <a:latin typeface="Corbel" panose="020B0503020204020204" pitchFamily="34" charset="0"/>
                          <a:ea typeface="Times New Roman" panose="02020603050405020304" pitchFamily="18" charset="0"/>
                        </a:rPr>
                        <a:t> copies/contigs (30.20%, 30.20%, 41.78%, 32.39%)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tabLst>
                          <a:tab pos="809625" algn="l"/>
                        </a:tabLst>
                      </a:pPr>
                      <a:r>
                        <a:rPr lang="en-GB" sz="1800" kern="100" dirty="0">
                          <a:effectLst/>
                          <a:latin typeface="Corbel" panose="020B0503020204020204" pitchFamily="34" charset="0"/>
                          <a:ea typeface="Times New Roman" panose="02020603050405020304" pitchFamily="18" charset="0"/>
                        </a:rPr>
                        <a:t>2 </a:t>
                      </a:r>
                      <a:r>
                        <a:rPr lang="en-GB" sz="1800" i="1" kern="100" dirty="0" err="1">
                          <a:effectLst/>
                          <a:latin typeface="Corbel" panose="020B0503020204020204" pitchFamily="34" charset="0"/>
                          <a:ea typeface="Times New Roman" panose="02020603050405020304" pitchFamily="18" charset="0"/>
                        </a:rPr>
                        <a:t>tet</a:t>
                      </a:r>
                      <a:r>
                        <a:rPr lang="en-GB" sz="1800" i="1" kern="100" dirty="0">
                          <a:effectLst/>
                          <a:latin typeface="Corbel" panose="020B0503020204020204" pitchFamily="34" charset="0"/>
                          <a:ea typeface="Times New Roman" panose="02020603050405020304" pitchFamily="18" charset="0"/>
                        </a:rPr>
                        <a:t>(M)</a:t>
                      </a:r>
                      <a:r>
                        <a:rPr lang="en-GB" sz="1800" kern="100" dirty="0">
                          <a:effectLst/>
                          <a:latin typeface="Corbel" panose="020B0503020204020204" pitchFamily="34" charset="0"/>
                          <a:ea typeface="Times New Roman" panose="02020603050405020304" pitchFamily="18" charset="0"/>
                        </a:rPr>
                        <a:t> copies (100.00%, 58.69%)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3858204"/>
                  </a:ext>
                </a:extLst>
              </a:tr>
            </a:tbl>
          </a:graphicData>
        </a:graphic>
      </p:graphicFrame>
      <p:sp>
        <p:nvSpPr>
          <p:cNvPr id="2" name="TextBox 1">
            <a:extLst>
              <a:ext uri="{FF2B5EF4-FFF2-40B4-BE49-F238E27FC236}">
                <a16:creationId xmlns:a16="http://schemas.microsoft.com/office/drawing/2014/main" id="{863ADB87-97AC-0E20-6479-0C0A14B92650}"/>
              </a:ext>
            </a:extLst>
          </p:cNvPr>
          <p:cNvSpPr txBox="1"/>
          <p:nvPr/>
        </p:nvSpPr>
        <p:spPr>
          <a:xfrm>
            <a:off x="1115171" y="5403860"/>
            <a:ext cx="10238629" cy="646331"/>
          </a:xfrm>
          <a:prstGeom prst="rect">
            <a:avLst/>
          </a:prstGeom>
          <a:noFill/>
        </p:spPr>
        <p:txBody>
          <a:bodyPr wrap="square">
            <a:spAutoFit/>
          </a:bodyPr>
          <a:lstStyle/>
          <a:p>
            <a:r>
              <a:rPr lang="en-GB" sz="1800" dirty="0">
                <a:effectLst/>
                <a:latin typeface="Corbel" panose="020B0503020204020204" pitchFamily="34" charset="0"/>
                <a:cs typeface="Times New Roman" panose="02020603050405020304" pitchFamily="18" charset="0"/>
                <a:sym typeface="Wingdings" pitchFamily="2" charset="2"/>
              </a:rPr>
              <a:t> </a:t>
            </a:r>
            <a:r>
              <a:rPr lang="en-GB" b="1" dirty="0"/>
              <a:t>Question </a:t>
            </a:r>
            <a:r>
              <a:rPr lang="en-GB" dirty="0"/>
              <a:t>Based on the results of </a:t>
            </a:r>
            <a:r>
              <a:rPr lang="en-GB" dirty="0" err="1"/>
              <a:t>AMRFinder</a:t>
            </a:r>
            <a:r>
              <a:rPr lang="en-GB" dirty="0"/>
              <a:t> from Illumina and hybrid assemblies, which results would you trust more? what could explain the lack of full </a:t>
            </a:r>
            <a:r>
              <a:rPr lang="en-GB" i="1" dirty="0" err="1"/>
              <a:t>tet</a:t>
            </a:r>
            <a:r>
              <a:rPr lang="en-GB" i="1" dirty="0"/>
              <a:t>(M)</a:t>
            </a:r>
            <a:r>
              <a:rPr lang="en-GB" dirty="0"/>
              <a:t> detection in the Illumina assemblies?</a:t>
            </a:r>
          </a:p>
        </p:txBody>
      </p:sp>
      <p:sp>
        <p:nvSpPr>
          <p:cNvPr id="4" name="Rectangle 3">
            <a:extLst>
              <a:ext uri="{FF2B5EF4-FFF2-40B4-BE49-F238E27FC236}">
                <a16:creationId xmlns:a16="http://schemas.microsoft.com/office/drawing/2014/main" id="{ECD20FBA-E49D-83E4-5D8D-CFAACB9E40EA}"/>
              </a:ext>
            </a:extLst>
          </p:cNvPr>
          <p:cNvSpPr/>
          <p:nvPr/>
        </p:nvSpPr>
        <p:spPr>
          <a:xfrm>
            <a:off x="974010" y="6356350"/>
            <a:ext cx="9954723" cy="307777"/>
          </a:xfrm>
          <a:prstGeom prst="rect">
            <a:avLst/>
          </a:prstGeom>
        </p:spPr>
        <p:txBody>
          <a:bodyPr wrap="square">
            <a:spAutoFit/>
          </a:bodyPr>
          <a:lstStyle/>
          <a:p>
            <a:r>
              <a:rPr lang="en-US" sz="1400" dirty="0">
                <a:effectLst/>
                <a:latin typeface="Arial" panose="020B0604020202020204" pitchFamily="34" charset="0"/>
                <a:ea typeface="Times New Roman" panose="02020603050405020304" pitchFamily="18" charset="0"/>
                <a:cs typeface="Arial" panose="020B0604020202020204" pitchFamily="34" charset="0"/>
              </a:rPr>
              <a:t>Source: García-González </a:t>
            </a:r>
            <a:r>
              <a:rPr lang="en-US" sz="1400" i="1" dirty="0">
                <a:effectLst/>
                <a:latin typeface="Arial" panose="020B0604020202020204" pitchFamily="34" charset="0"/>
                <a:ea typeface="Times New Roman" panose="02020603050405020304" pitchFamily="18" charset="0"/>
                <a:cs typeface="Arial" panose="020B0604020202020204" pitchFamily="34" charset="0"/>
              </a:rPr>
              <a:t>et al. </a:t>
            </a:r>
            <a:r>
              <a:rPr lang="en-US" sz="1400" dirty="0">
                <a:effectLst/>
                <a:latin typeface="Arial" panose="020B0604020202020204" pitchFamily="34" charset="0"/>
                <a:ea typeface="Times New Roman" panose="02020603050405020304" pitchFamily="18" charset="0"/>
                <a:cs typeface="Arial" panose="020B0604020202020204" pitchFamily="34" charset="0"/>
              </a:rPr>
              <a:t>2026. BioRxiv. https://</a:t>
            </a:r>
            <a:r>
              <a:rPr lang="en-US" sz="1400" dirty="0" err="1">
                <a:effectLst/>
                <a:latin typeface="Arial" panose="020B0604020202020204" pitchFamily="34" charset="0"/>
                <a:ea typeface="Times New Roman" panose="02020603050405020304" pitchFamily="18" charset="0"/>
                <a:cs typeface="Arial" panose="020B0604020202020204" pitchFamily="34" charset="0"/>
              </a:rPr>
              <a:t>doi.org</a:t>
            </a:r>
            <a:r>
              <a:rPr lang="en-US" sz="1400" dirty="0">
                <a:effectLst/>
                <a:latin typeface="Arial" panose="020B0604020202020204" pitchFamily="34" charset="0"/>
                <a:ea typeface="Times New Roman" panose="02020603050405020304" pitchFamily="18" charset="0"/>
                <a:cs typeface="Arial" panose="020B0604020202020204" pitchFamily="34" charset="0"/>
              </a:rPr>
              <a:t>/10.64898/2026.06.08.729070 </a:t>
            </a:r>
          </a:p>
        </p:txBody>
      </p:sp>
      <p:sp>
        <p:nvSpPr>
          <p:cNvPr id="3" name="TextBox 2">
            <a:extLst>
              <a:ext uri="{FF2B5EF4-FFF2-40B4-BE49-F238E27FC236}">
                <a16:creationId xmlns:a16="http://schemas.microsoft.com/office/drawing/2014/main" id="{05C630C5-8512-6DFD-3476-C6FD026226B9}"/>
              </a:ext>
            </a:extLst>
          </p:cNvPr>
          <p:cNvSpPr txBox="1"/>
          <p:nvPr/>
        </p:nvSpPr>
        <p:spPr>
          <a:xfrm>
            <a:off x="734289" y="404195"/>
            <a:ext cx="10381730" cy="954107"/>
          </a:xfrm>
          <a:prstGeom prst="rect">
            <a:avLst/>
          </a:prstGeom>
          <a:noFill/>
        </p:spPr>
        <p:txBody>
          <a:bodyPr wrap="square">
            <a:spAutoFit/>
          </a:bodyPr>
          <a:lstStyle/>
          <a:p>
            <a:r>
              <a:rPr lang="en-GB" sz="2800" b="1" dirty="0"/>
              <a:t>Case study 2: Effect of duplicated and truncated AMR genes on genotypic AMR determination</a:t>
            </a:r>
          </a:p>
        </p:txBody>
      </p:sp>
    </p:spTree>
    <p:extLst>
      <p:ext uri="{BB962C8B-B14F-4D97-AF65-F5344CB8AC3E}">
        <p14:creationId xmlns:p14="http://schemas.microsoft.com/office/powerpoint/2010/main" val="2986486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5C39C-8E83-9D91-FCDF-F63608F6A9A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69D28A9-A443-26F2-8FF0-4B84F8778CA3}"/>
              </a:ext>
            </a:extLst>
          </p:cNvPr>
          <p:cNvSpPr>
            <a:spLocks noGrp="1"/>
          </p:cNvSpPr>
          <p:nvPr>
            <p:ph type="sldNum" sz="quarter" idx="12"/>
          </p:nvPr>
        </p:nvSpPr>
        <p:spPr/>
        <p:txBody>
          <a:bodyPr/>
          <a:lstStyle/>
          <a:p>
            <a:fld id="{75AEF4DF-2886-834E-8BD5-00D5F339C13C}" type="slidenum">
              <a:rPr lang="en-GB" smtClean="0"/>
              <a:t>16</a:t>
            </a:fld>
            <a:endParaRPr lang="en-GB"/>
          </a:p>
        </p:txBody>
      </p:sp>
      <p:pic>
        <p:nvPicPr>
          <p:cNvPr id="4" name="Picture 3">
            <a:extLst>
              <a:ext uri="{FF2B5EF4-FFF2-40B4-BE49-F238E27FC236}">
                <a16:creationId xmlns:a16="http://schemas.microsoft.com/office/drawing/2014/main" id="{24B233E3-EB8F-223C-95D3-0582AC1D61F7}"/>
              </a:ext>
            </a:extLst>
          </p:cNvPr>
          <p:cNvPicPr>
            <a:picLocks noChangeAspect="1"/>
          </p:cNvPicPr>
          <p:nvPr/>
        </p:nvPicPr>
        <p:blipFill>
          <a:blip r:embed="rId3"/>
          <a:srcRect t="78539"/>
          <a:stretch>
            <a:fillRect/>
          </a:stretch>
        </p:blipFill>
        <p:spPr>
          <a:xfrm>
            <a:off x="1074604" y="2371915"/>
            <a:ext cx="9454802" cy="2806011"/>
          </a:xfrm>
          <a:prstGeom prst="rect">
            <a:avLst/>
          </a:prstGeom>
        </p:spPr>
      </p:pic>
      <p:sp>
        <p:nvSpPr>
          <p:cNvPr id="5" name="Rectangle 4">
            <a:extLst>
              <a:ext uri="{FF2B5EF4-FFF2-40B4-BE49-F238E27FC236}">
                <a16:creationId xmlns:a16="http://schemas.microsoft.com/office/drawing/2014/main" id="{8164BB74-706B-9DCE-D42D-2EAE389B6B72}"/>
              </a:ext>
            </a:extLst>
          </p:cNvPr>
          <p:cNvSpPr/>
          <p:nvPr/>
        </p:nvSpPr>
        <p:spPr>
          <a:xfrm>
            <a:off x="974010" y="6356350"/>
            <a:ext cx="9954723" cy="307777"/>
          </a:xfrm>
          <a:prstGeom prst="rect">
            <a:avLst/>
          </a:prstGeom>
        </p:spPr>
        <p:txBody>
          <a:bodyPr wrap="square">
            <a:spAutoFit/>
          </a:bodyPr>
          <a:lstStyle/>
          <a:p>
            <a:r>
              <a:rPr lang="en-US" sz="1400" dirty="0">
                <a:effectLst/>
                <a:latin typeface="Arial" panose="020B0604020202020204" pitchFamily="34" charset="0"/>
                <a:ea typeface="Times New Roman" panose="02020603050405020304" pitchFamily="18" charset="0"/>
                <a:cs typeface="Arial" panose="020B0604020202020204" pitchFamily="34" charset="0"/>
              </a:rPr>
              <a:t>Source: García-González </a:t>
            </a:r>
            <a:r>
              <a:rPr lang="en-US" sz="1400" i="1" dirty="0">
                <a:effectLst/>
                <a:latin typeface="Arial" panose="020B0604020202020204" pitchFamily="34" charset="0"/>
                <a:ea typeface="Times New Roman" panose="02020603050405020304" pitchFamily="18" charset="0"/>
                <a:cs typeface="Arial" panose="020B0604020202020204" pitchFamily="34" charset="0"/>
              </a:rPr>
              <a:t>et al. </a:t>
            </a:r>
            <a:r>
              <a:rPr lang="en-US" sz="1400" dirty="0">
                <a:effectLst/>
                <a:latin typeface="Arial" panose="020B0604020202020204" pitchFamily="34" charset="0"/>
                <a:ea typeface="Times New Roman" panose="02020603050405020304" pitchFamily="18" charset="0"/>
                <a:cs typeface="Arial" panose="020B0604020202020204" pitchFamily="34" charset="0"/>
              </a:rPr>
              <a:t>2026. BioRxiv. https://</a:t>
            </a:r>
            <a:r>
              <a:rPr lang="en-US" sz="1400" dirty="0" err="1">
                <a:effectLst/>
                <a:latin typeface="Arial" panose="020B0604020202020204" pitchFamily="34" charset="0"/>
                <a:ea typeface="Times New Roman" panose="02020603050405020304" pitchFamily="18" charset="0"/>
                <a:cs typeface="Arial" panose="020B0604020202020204" pitchFamily="34" charset="0"/>
              </a:rPr>
              <a:t>doi.org</a:t>
            </a:r>
            <a:r>
              <a:rPr lang="en-US" sz="1400" dirty="0">
                <a:effectLst/>
                <a:latin typeface="Arial" panose="020B0604020202020204" pitchFamily="34" charset="0"/>
                <a:ea typeface="Times New Roman" panose="02020603050405020304" pitchFamily="18" charset="0"/>
                <a:cs typeface="Arial" panose="020B0604020202020204" pitchFamily="34" charset="0"/>
              </a:rPr>
              <a:t>/10.64898/2026.06.08.729070 </a:t>
            </a:r>
          </a:p>
        </p:txBody>
      </p:sp>
      <p:sp>
        <p:nvSpPr>
          <p:cNvPr id="2" name="TextBox 1">
            <a:extLst>
              <a:ext uri="{FF2B5EF4-FFF2-40B4-BE49-F238E27FC236}">
                <a16:creationId xmlns:a16="http://schemas.microsoft.com/office/drawing/2014/main" id="{B65E9A49-1982-BBB0-1315-DDC80FECB2DD}"/>
              </a:ext>
            </a:extLst>
          </p:cNvPr>
          <p:cNvSpPr txBox="1"/>
          <p:nvPr/>
        </p:nvSpPr>
        <p:spPr>
          <a:xfrm>
            <a:off x="734289" y="404195"/>
            <a:ext cx="10381730" cy="954107"/>
          </a:xfrm>
          <a:prstGeom prst="rect">
            <a:avLst/>
          </a:prstGeom>
          <a:noFill/>
        </p:spPr>
        <p:txBody>
          <a:bodyPr wrap="square">
            <a:spAutoFit/>
          </a:bodyPr>
          <a:lstStyle/>
          <a:p>
            <a:r>
              <a:rPr lang="en-GB" sz="2800" b="1" dirty="0"/>
              <a:t>Case study 2: Effect of duplicated and truncated AMR genes on genotypic AMR determination</a:t>
            </a:r>
          </a:p>
        </p:txBody>
      </p:sp>
    </p:spTree>
    <p:extLst>
      <p:ext uri="{BB962C8B-B14F-4D97-AF65-F5344CB8AC3E}">
        <p14:creationId xmlns:p14="http://schemas.microsoft.com/office/powerpoint/2010/main" val="882867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58D55-39AD-221C-9BF6-A3E10389A2A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3AAD975-EB84-9BBD-779A-D265DF4D8E26}"/>
              </a:ext>
            </a:extLst>
          </p:cNvPr>
          <p:cNvSpPr>
            <a:spLocks noGrp="1"/>
          </p:cNvSpPr>
          <p:nvPr>
            <p:ph type="sldNum" sz="quarter" idx="12"/>
          </p:nvPr>
        </p:nvSpPr>
        <p:spPr/>
        <p:txBody>
          <a:bodyPr/>
          <a:lstStyle/>
          <a:p>
            <a:fld id="{75AEF4DF-2886-834E-8BD5-00D5F339C13C}" type="slidenum">
              <a:rPr lang="en-GB" smtClean="0"/>
              <a:t>17</a:t>
            </a:fld>
            <a:endParaRPr lang="en-GB"/>
          </a:p>
        </p:txBody>
      </p:sp>
      <p:sp>
        <p:nvSpPr>
          <p:cNvPr id="3" name="Rectangle 2">
            <a:extLst>
              <a:ext uri="{FF2B5EF4-FFF2-40B4-BE49-F238E27FC236}">
                <a16:creationId xmlns:a16="http://schemas.microsoft.com/office/drawing/2014/main" id="{43FA96B2-DD29-B1B5-1093-79BF02A3499C}"/>
              </a:ext>
            </a:extLst>
          </p:cNvPr>
          <p:cNvSpPr/>
          <p:nvPr/>
        </p:nvSpPr>
        <p:spPr>
          <a:xfrm>
            <a:off x="974010" y="6356350"/>
            <a:ext cx="9954723" cy="523220"/>
          </a:xfrm>
          <a:prstGeom prst="rect">
            <a:avLst/>
          </a:prstGeom>
        </p:spPr>
        <p:txBody>
          <a:bodyPr wrap="square">
            <a:spAutoFit/>
          </a:bodyPr>
          <a:lstStyle/>
          <a:p>
            <a:r>
              <a:rPr lang="en-US" sz="1400" dirty="0">
                <a:effectLst/>
                <a:latin typeface="Arial" panose="020B0604020202020204" pitchFamily="34" charset="0"/>
                <a:ea typeface="Times New Roman" panose="02020603050405020304" pitchFamily="18" charset="0"/>
                <a:cs typeface="Arial" panose="020B0604020202020204" pitchFamily="34" charset="0"/>
              </a:rPr>
              <a:t>Source: </a:t>
            </a:r>
            <a:r>
              <a:rPr lang="en-US" sz="1400" dirty="0" err="1">
                <a:effectLst/>
                <a:latin typeface="Arial" panose="020B0604020202020204" pitchFamily="34" charset="0"/>
                <a:ea typeface="Times New Roman" panose="02020603050405020304" pitchFamily="18" charset="0"/>
                <a:cs typeface="Arial" panose="020B0604020202020204" pitchFamily="34" charset="0"/>
              </a:rPr>
              <a:t>Diricks</a:t>
            </a:r>
            <a:r>
              <a:rPr lang="en-US" sz="1400" dirty="0">
                <a:effectLst/>
                <a:latin typeface="Arial" panose="020B0604020202020204" pitchFamily="34" charset="0"/>
                <a:ea typeface="Times New Roman" panose="02020603050405020304" pitchFamily="18" charset="0"/>
                <a:cs typeface="Arial" panose="020B0604020202020204" pitchFamily="34" charset="0"/>
              </a:rPr>
              <a:t> </a:t>
            </a:r>
            <a:r>
              <a:rPr lang="en-US" sz="1400" i="1" dirty="0">
                <a:effectLst/>
                <a:latin typeface="Arial" panose="020B0604020202020204" pitchFamily="34" charset="0"/>
                <a:ea typeface="Times New Roman" panose="02020603050405020304" pitchFamily="18" charset="0"/>
                <a:cs typeface="Arial" panose="020B0604020202020204" pitchFamily="34" charset="0"/>
              </a:rPr>
              <a:t>et al. </a:t>
            </a:r>
            <a:r>
              <a:rPr lang="en-US" sz="1400" dirty="0">
                <a:effectLst/>
                <a:latin typeface="Arial" panose="020B0604020202020204" pitchFamily="34" charset="0"/>
                <a:ea typeface="Times New Roman" panose="02020603050405020304" pitchFamily="18" charset="0"/>
                <a:cs typeface="Arial" panose="020B0604020202020204" pitchFamily="34" charset="0"/>
              </a:rPr>
              <a:t>2026. Sources of Genotype–Phenotype Discrepancies when Predicting Antibiotic Resistance from Bacterial Genome Sequences. Under review.</a:t>
            </a:r>
          </a:p>
        </p:txBody>
      </p:sp>
      <p:pic>
        <p:nvPicPr>
          <p:cNvPr id="2" name="Picture 1">
            <a:extLst>
              <a:ext uri="{FF2B5EF4-FFF2-40B4-BE49-F238E27FC236}">
                <a16:creationId xmlns:a16="http://schemas.microsoft.com/office/drawing/2014/main" id="{B137B130-C989-AB15-AB68-C32907D7B79C}"/>
              </a:ext>
            </a:extLst>
          </p:cNvPr>
          <p:cNvPicPr>
            <a:picLocks noChangeAspect="1"/>
          </p:cNvPicPr>
          <p:nvPr/>
        </p:nvPicPr>
        <p:blipFill>
          <a:blip r:embed="rId3"/>
          <a:srcRect r="17889" b="65532"/>
          <a:stretch>
            <a:fillRect/>
          </a:stretch>
        </p:blipFill>
        <p:spPr>
          <a:xfrm>
            <a:off x="874224" y="1564170"/>
            <a:ext cx="8961491" cy="3999347"/>
          </a:xfrm>
          <a:prstGeom prst="rect">
            <a:avLst/>
          </a:prstGeom>
        </p:spPr>
      </p:pic>
      <p:sp>
        <p:nvSpPr>
          <p:cNvPr id="4" name="TextBox 3">
            <a:extLst>
              <a:ext uri="{FF2B5EF4-FFF2-40B4-BE49-F238E27FC236}">
                <a16:creationId xmlns:a16="http://schemas.microsoft.com/office/drawing/2014/main" id="{1F6C8831-C2E8-DD10-3B62-113DF59EACB0}"/>
              </a:ext>
            </a:extLst>
          </p:cNvPr>
          <p:cNvSpPr txBox="1"/>
          <p:nvPr/>
        </p:nvSpPr>
        <p:spPr>
          <a:xfrm>
            <a:off x="734289" y="404195"/>
            <a:ext cx="10381730" cy="954107"/>
          </a:xfrm>
          <a:prstGeom prst="rect">
            <a:avLst/>
          </a:prstGeom>
          <a:noFill/>
        </p:spPr>
        <p:txBody>
          <a:bodyPr wrap="square">
            <a:spAutoFit/>
          </a:bodyPr>
          <a:lstStyle/>
          <a:p>
            <a:r>
              <a:rPr lang="en-GB" sz="2800" b="1" dirty="0"/>
              <a:t>Case study 2: Effect of duplicated and truncated AMR genes on genotypic AMR determination</a:t>
            </a:r>
          </a:p>
        </p:txBody>
      </p:sp>
    </p:spTree>
    <p:extLst>
      <p:ext uri="{BB962C8B-B14F-4D97-AF65-F5344CB8AC3E}">
        <p14:creationId xmlns:p14="http://schemas.microsoft.com/office/powerpoint/2010/main" val="396503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7DBAD-49CC-48A1-9D5A-8E4ACB69AE7E}"/>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B73B7307-23AF-5244-2F2E-539DD31F27E2}"/>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3: Resolving AMR phenotype-genotype discrepancies from Salmonella enterica genomes</a:t>
            </a:r>
          </a:p>
        </p:txBody>
      </p:sp>
      <p:sp>
        <p:nvSpPr>
          <p:cNvPr id="7" name="Slide Number Placeholder 6">
            <a:extLst>
              <a:ext uri="{FF2B5EF4-FFF2-40B4-BE49-F238E27FC236}">
                <a16:creationId xmlns:a16="http://schemas.microsoft.com/office/drawing/2014/main" id="{42F6CF94-7615-1B09-A646-5160626354CA}"/>
              </a:ext>
            </a:extLst>
          </p:cNvPr>
          <p:cNvSpPr>
            <a:spLocks noGrp="1"/>
          </p:cNvSpPr>
          <p:nvPr>
            <p:ph type="sldNum" sz="quarter" idx="12"/>
          </p:nvPr>
        </p:nvSpPr>
        <p:spPr/>
        <p:txBody>
          <a:bodyPr/>
          <a:lstStyle/>
          <a:p>
            <a:fld id="{75AEF4DF-2886-834E-8BD5-00D5F339C13C}" type="slidenum">
              <a:rPr lang="en-GB" smtClean="0"/>
              <a:t>18</a:t>
            </a:fld>
            <a:endParaRPr lang="en-GB"/>
          </a:p>
        </p:txBody>
      </p:sp>
      <p:pic>
        <p:nvPicPr>
          <p:cNvPr id="3" name="Picture 2">
            <a:extLst>
              <a:ext uri="{FF2B5EF4-FFF2-40B4-BE49-F238E27FC236}">
                <a16:creationId xmlns:a16="http://schemas.microsoft.com/office/drawing/2014/main" id="{A92BD76D-8B44-C433-39BF-B86B5B366394}"/>
              </a:ext>
            </a:extLst>
          </p:cNvPr>
          <p:cNvPicPr>
            <a:picLocks noChangeAspect="1"/>
          </p:cNvPicPr>
          <p:nvPr/>
        </p:nvPicPr>
        <p:blipFill>
          <a:blip r:embed="rId3"/>
          <a:stretch>
            <a:fillRect/>
          </a:stretch>
        </p:blipFill>
        <p:spPr>
          <a:xfrm>
            <a:off x="844458" y="1580640"/>
            <a:ext cx="7208872" cy="3326514"/>
          </a:xfrm>
          <a:prstGeom prst="rect">
            <a:avLst/>
          </a:prstGeom>
        </p:spPr>
      </p:pic>
    </p:spTree>
    <p:extLst>
      <p:ext uri="{BB962C8B-B14F-4D97-AF65-F5344CB8AC3E}">
        <p14:creationId xmlns:p14="http://schemas.microsoft.com/office/powerpoint/2010/main" val="1615264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E2B99-C7C8-CBCB-7F78-9BBE434627F6}"/>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0B22CC4-09B3-E06D-D4A9-65FDAC68E63D}"/>
              </a:ext>
            </a:extLst>
          </p:cNvPr>
          <p:cNvSpPr>
            <a:spLocks noGrp="1"/>
          </p:cNvSpPr>
          <p:nvPr>
            <p:ph type="sldNum" sz="quarter" idx="12"/>
          </p:nvPr>
        </p:nvSpPr>
        <p:spPr/>
        <p:txBody>
          <a:bodyPr/>
          <a:lstStyle/>
          <a:p>
            <a:fld id="{75AEF4DF-2886-834E-8BD5-00D5F339C13C}" type="slidenum">
              <a:rPr lang="en-GB" smtClean="0"/>
              <a:t>19</a:t>
            </a:fld>
            <a:endParaRPr lang="en-GB"/>
          </a:p>
        </p:txBody>
      </p:sp>
      <p:pic>
        <p:nvPicPr>
          <p:cNvPr id="3" name="Picture 2">
            <a:extLst>
              <a:ext uri="{FF2B5EF4-FFF2-40B4-BE49-F238E27FC236}">
                <a16:creationId xmlns:a16="http://schemas.microsoft.com/office/drawing/2014/main" id="{985171F8-7E3F-62B0-C877-4C5376F2A7BC}"/>
              </a:ext>
            </a:extLst>
          </p:cNvPr>
          <p:cNvPicPr>
            <a:picLocks noChangeAspect="1"/>
          </p:cNvPicPr>
          <p:nvPr/>
        </p:nvPicPr>
        <p:blipFill>
          <a:blip r:embed="rId3"/>
          <a:stretch>
            <a:fillRect/>
          </a:stretch>
        </p:blipFill>
        <p:spPr>
          <a:xfrm>
            <a:off x="844458" y="1580640"/>
            <a:ext cx="7208872" cy="3326514"/>
          </a:xfrm>
          <a:prstGeom prst="rect">
            <a:avLst/>
          </a:prstGeom>
        </p:spPr>
      </p:pic>
      <p:sp>
        <p:nvSpPr>
          <p:cNvPr id="2" name="TextBox 1">
            <a:extLst>
              <a:ext uri="{FF2B5EF4-FFF2-40B4-BE49-F238E27FC236}">
                <a16:creationId xmlns:a16="http://schemas.microsoft.com/office/drawing/2014/main" id="{29C9634D-1240-0E1B-4D23-769ED5F42CBB}"/>
              </a:ext>
            </a:extLst>
          </p:cNvPr>
          <p:cNvSpPr txBox="1"/>
          <p:nvPr/>
        </p:nvSpPr>
        <p:spPr>
          <a:xfrm>
            <a:off x="838200" y="5184465"/>
            <a:ext cx="10800371" cy="369332"/>
          </a:xfrm>
          <a:prstGeom prst="rect">
            <a:avLst/>
          </a:prstGeom>
          <a:noFill/>
        </p:spPr>
        <p:txBody>
          <a:bodyPr wrap="square">
            <a:spAutoFit/>
          </a:bodyPr>
          <a:lstStyle/>
          <a:p>
            <a:r>
              <a:rPr lang="en-GB" sz="1800" dirty="0">
                <a:effectLst/>
                <a:latin typeface="Corbel" panose="020B0503020204020204" pitchFamily="34" charset="0"/>
                <a:cs typeface="Times New Roman" panose="02020603050405020304" pitchFamily="18" charset="0"/>
                <a:sym typeface="Wingdings" pitchFamily="2" charset="2"/>
              </a:rPr>
              <a:t> </a:t>
            </a:r>
            <a:r>
              <a:rPr lang="en-GB" dirty="0">
                <a:latin typeface="Corbel" panose="020B0503020204020204" pitchFamily="34" charset="0"/>
                <a:cs typeface="Times New Roman" panose="02020603050405020304" pitchFamily="18" charset="0"/>
                <a:sym typeface="Wingdings" pitchFamily="2" charset="2"/>
              </a:rPr>
              <a:t>s</a:t>
            </a:r>
            <a:r>
              <a:rPr lang="en-GB" sz="1800" dirty="0">
                <a:effectLst/>
                <a:latin typeface="Corbel" panose="020B0503020204020204" pitchFamily="34" charset="0"/>
                <a:cs typeface="Times New Roman" panose="02020603050405020304" pitchFamily="18" charset="0"/>
              </a:rPr>
              <a:t>ource of false-positives: </a:t>
            </a:r>
            <a:r>
              <a:rPr lang="en-GB" sz="1600" dirty="0">
                <a:effectLst/>
                <a:latin typeface="Corbel" panose="020B0503020204020204" pitchFamily="34" charset="0"/>
                <a:cs typeface="Times New Roman" panose="02020603050405020304" pitchFamily="18" charset="0"/>
              </a:rPr>
              <a:t>a</a:t>
            </a:r>
            <a:r>
              <a:rPr lang="en-GB" sz="1600" dirty="0"/>
              <a:t>mikacin and tobramycin susceptibility despite presence of </a:t>
            </a:r>
            <a:r>
              <a:rPr lang="en-GB" sz="1600" i="1" dirty="0" err="1"/>
              <a:t>aac</a:t>
            </a:r>
            <a:r>
              <a:rPr lang="en-GB" sz="1600" i="1" dirty="0"/>
              <a:t>(6′)-</a:t>
            </a:r>
            <a:r>
              <a:rPr lang="en-GB" sz="1600" i="1" dirty="0" err="1"/>
              <a:t>Iaa</a:t>
            </a:r>
            <a:r>
              <a:rPr lang="en-GB" sz="1600" dirty="0"/>
              <a:t> gene</a:t>
            </a:r>
            <a:endParaRPr lang="en-GB" sz="1600" i="1" dirty="0">
              <a:latin typeface="Corbel" panose="020B05030202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AECD0AC9-FFBF-7BCC-B74E-F1803599FA0C}"/>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3: Resolving AMR phenotype-genotype discrepancies from Salmonella enterica genomes</a:t>
            </a:r>
          </a:p>
        </p:txBody>
      </p:sp>
    </p:spTree>
    <p:extLst>
      <p:ext uri="{BB962C8B-B14F-4D97-AF65-F5344CB8AC3E}">
        <p14:creationId xmlns:p14="http://schemas.microsoft.com/office/powerpoint/2010/main" val="3293827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841E0-FA3A-1E85-A410-77D2C3718FD6}"/>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3354067-3035-0218-8953-F3E4FD259C3A}"/>
              </a:ext>
            </a:extLst>
          </p:cNvPr>
          <p:cNvSpPr>
            <a:spLocks noGrp="1"/>
          </p:cNvSpPr>
          <p:nvPr>
            <p:ph type="sldNum" sz="quarter" idx="12"/>
          </p:nvPr>
        </p:nvSpPr>
        <p:spPr/>
        <p:txBody>
          <a:bodyPr/>
          <a:lstStyle/>
          <a:p>
            <a:fld id="{75AEF4DF-2886-834E-8BD5-00D5F339C13C}" type="slidenum">
              <a:rPr lang="en-GB" smtClean="0"/>
              <a:t>20</a:t>
            </a:fld>
            <a:endParaRPr lang="en-GB"/>
          </a:p>
        </p:txBody>
      </p:sp>
      <p:sp>
        <p:nvSpPr>
          <p:cNvPr id="2" name="TextBox 1">
            <a:extLst>
              <a:ext uri="{FF2B5EF4-FFF2-40B4-BE49-F238E27FC236}">
                <a16:creationId xmlns:a16="http://schemas.microsoft.com/office/drawing/2014/main" id="{A6677936-B7BE-E7DD-3EC5-AD5CA0ED8252}"/>
              </a:ext>
            </a:extLst>
          </p:cNvPr>
          <p:cNvSpPr txBox="1"/>
          <p:nvPr/>
        </p:nvSpPr>
        <p:spPr>
          <a:xfrm>
            <a:off x="838200" y="5184465"/>
            <a:ext cx="10800371" cy="369332"/>
          </a:xfrm>
          <a:prstGeom prst="rect">
            <a:avLst/>
          </a:prstGeom>
          <a:noFill/>
        </p:spPr>
        <p:txBody>
          <a:bodyPr wrap="square">
            <a:spAutoFit/>
          </a:bodyPr>
          <a:lstStyle/>
          <a:p>
            <a:r>
              <a:rPr lang="en-GB" sz="1800" dirty="0">
                <a:effectLst/>
                <a:latin typeface="Corbel" panose="020B0503020204020204" pitchFamily="34" charset="0"/>
                <a:cs typeface="Times New Roman" panose="02020603050405020304" pitchFamily="18" charset="0"/>
                <a:sym typeface="Wingdings" pitchFamily="2" charset="2"/>
              </a:rPr>
              <a:t> </a:t>
            </a:r>
            <a:r>
              <a:rPr lang="en-GB" dirty="0">
                <a:latin typeface="Corbel" panose="020B0503020204020204" pitchFamily="34" charset="0"/>
                <a:cs typeface="Times New Roman" panose="02020603050405020304" pitchFamily="18" charset="0"/>
                <a:sym typeface="Wingdings" pitchFamily="2" charset="2"/>
              </a:rPr>
              <a:t>s</a:t>
            </a:r>
            <a:r>
              <a:rPr lang="en-GB" sz="1800" dirty="0">
                <a:effectLst/>
                <a:latin typeface="Corbel" panose="020B0503020204020204" pitchFamily="34" charset="0"/>
                <a:cs typeface="Times New Roman" panose="02020603050405020304" pitchFamily="18" charset="0"/>
              </a:rPr>
              <a:t>ource of false-positives: </a:t>
            </a:r>
            <a:r>
              <a:rPr lang="en-GB" sz="1600" dirty="0">
                <a:effectLst/>
                <a:latin typeface="Corbel" panose="020B0503020204020204" pitchFamily="34" charset="0"/>
                <a:cs typeface="Times New Roman" panose="02020603050405020304" pitchFamily="18" charset="0"/>
              </a:rPr>
              <a:t>a</a:t>
            </a:r>
            <a:r>
              <a:rPr lang="en-GB" sz="1600" dirty="0"/>
              <a:t>mikacin and tobramycin susceptibility despite presence of </a:t>
            </a:r>
            <a:r>
              <a:rPr lang="en-GB" sz="1600" i="1" dirty="0" err="1"/>
              <a:t>aac</a:t>
            </a:r>
            <a:r>
              <a:rPr lang="en-GB" sz="1600" i="1" dirty="0"/>
              <a:t>(6′)-</a:t>
            </a:r>
            <a:r>
              <a:rPr lang="en-GB" sz="1600" i="1" dirty="0" err="1"/>
              <a:t>Iaa</a:t>
            </a:r>
            <a:r>
              <a:rPr lang="en-GB" sz="1600" dirty="0"/>
              <a:t> gene</a:t>
            </a:r>
            <a:endParaRPr lang="en-GB" sz="1600" i="1" dirty="0">
              <a:latin typeface="Corbel" panose="020B0503020204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75642297-7A70-EEE8-AAB0-EA215B2D98A5}"/>
              </a:ext>
            </a:extLst>
          </p:cNvPr>
          <p:cNvPicPr>
            <a:picLocks noChangeAspect="1"/>
          </p:cNvPicPr>
          <p:nvPr/>
        </p:nvPicPr>
        <p:blipFill>
          <a:blip r:embed="rId3"/>
          <a:stretch>
            <a:fillRect/>
          </a:stretch>
        </p:blipFill>
        <p:spPr>
          <a:xfrm>
            <a:off x="998863" y="1466417"/>
            <a:ext cx="5875662" cy="3635367"/>
          </a:xfrm>
          <a:prstGeom prst="rect">
            <a:avLst/>
          </a:prstGeom>
        </p:spPr>
      </p:pic>
      <p:sp>
        <p:nvSpPr>
          <p:cNvPr id="3" name="TextBox 2">
            <a:extLst>
              <a:ext uri="{FF2B5EF4-FFF2-40B4-BE49-F238E27FC236}">
                <a16:creationId xmlns:a16="http://schemas.microsoft.com/office/drawing/2014/main" id="{10DD51CD-015B-A506-ECE3-EF86113C7C76}"/>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3: Resolving AMR phenotype-genotype discrepancies from Salmonella enterica genomes</a:t>
            </a:r>
          </a:p>
        </p:txBody>
      </p:sp>
    </p:spTree>
    <p:extLst>
      <p:ext uri="{BB962C8B-B14F-4D97-AF65-F5344CB8AC3E}">
        <p14:creationId xmlns:p14="http://schemas.microsoft.com/office/powerpoint/2010/main" val="2748595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77065-BAC5-2668-B2A3-810978382990}"/>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10BEF31-2C40-A440-DF04-87A63B1FA1F9}"/>
              </a:ext>
            </a:extLst>
          </p:cNvPr>
          <p:cNvSpPr>
            <a:spLocks noGrp="1"/>
          </p:cNvSpPr>
          <p:nvPr>
            <p:ph type="sldNum" sz="quarter" idx="12"/>
          </p:nvPr>
        </p:nvSpPr>
        <p:spPr/>
        <p:txBody>
          <a:bodyPr/>
          <a:lstStyle/>
          <a:p>
            <a:fld id="{75AEF4DF-2886-834E-8BD5-00D5F339C13C}" type="slidenum">
              <a:rPr lang="en-GB" smtClean="0"/>
              <a:t>21</a:t>
            </a:fld>
            <a:endParaRPr lang="en-GB"/>
          </a:p>
        </p:txBody>
      </p:sp>
      <p:sp>
        <p:nvSpPr>
          <p:cNvPr id="2" name="TextBox 1">
            <a:extLst>
              <a:ext uri="{FF2B5EF4-FFF2-40B4-BE49-F238E27FC236}">
                <a16:creationId xmlns:a16="http://schemas.microsoft.com/office/drawing/2014/main" id="{C24C0250-FD61-2E43-6824-BD4D40AE44AF}"/>
              </a:ext>
            </a:extLst>
          </p:cNvPr>
          <p:cNvSpPr txBox="1"/>
          <p:nvPr/>
        </p:nvSpPr>
        <p:spPr>
          <a:xfrm>
            <a:off x="838200" y="4496836"/>
            <a:ext cx="10800371" cy="923330"/>
          </a:xfrm>
          <a:prstGeom prst="rect">
            <a:avLst/>
          </a:prstGeom>
          <a:noFill/>
        </p:spPr>
        <p:txBody>
          <a:bodyPr wrap="square">
            <a:spAutoFit/>
          </a:bodyPr>
          <a:lstStyle/>
          <a:p>
            <a:r>
              <a:rPr lang="en-GB" sz="1800" dirty="0">
                <a:effectLst/>
                <a:latin typeface="Corbel" panose="020B0503020204020204" pitchFamily="34" charset="0"/>
                <a:cs typeface="Times New Roman" panose="02020603050405020304" pitchFamily="18" charset="0"/>
                <a:sym typeface="Wingdings" pitchFamily="2" charset="2"/>
              </a:rPr>
              <a:t> </a:t>
            </a:r>
            <a:r>
              <a:rPr lang="en-GB" b="1" dirty="0"/>
              <a:t>Question</a:t>
            </a:r>
            <a:r>
              <a:rPr lang="en-GB" dirty="0"/>
              <a:t> All four </a:t>
            </a:r>
            <a:r>
              <a:rPr lang="en-GB" i="1" dirty="0"/>
              <a:t>Salmonella</a:t>
            </a:r>
            <a:r>
              <a:rPr lang="en-GB" dirty="0"/>
              <a:t> strains are </a:t>
            </a:r>
            <a:r>
              <a:rPr lang="en-GB" b="1" dirty="0"/>
              <a:t>resistant to ampicillin </a:t>
            </a:r>
            <a:r>
              <a:rPr lang="en-GB" dirty="0"/>
              <a:t>according to phenotypic testing. Can you identify which resistance determinant(s) are responsible for phenotypic resistance to ampicillin in each strain? Do all four strains carry at least one resistance determinant that could explain ampicillin resistance?</a:t>
            </a:r>
          </a:p>
        </p:txBody>
      </p:sp>
      <p:pic>
        <p:nvPicPr>
          <p:cNvPr id="4" name="Picture 3">
            <a:extLst>
              <a:ext uri="{FF2B5EF4-FFF2-40B4-BE49-F238E27FC236}">
                <a16:creationId xmlns:a16="http://schemas.microsoft.com/office/drawing/2014/main" id="{11940BAB-BFE3-432C-1099-D64891D9717E}"/>
              </a:ext>
            </a:extLst>
          </p:cNvPr>
          <p:cNvPicPr>
            <a:picLocks noChangeAspect="1"/>
          </p:cNvPicPr>
          <p:nvPr/>
        </p:nvPicPr>
        <p:blipFill>
          <a:blip r:embed="rId3"/>
          <a:stretch>
            <a:fillRect/>
          </a:stretch>
        </p:blipFill>
        <p:spPr>
          <a:xfrm>
            <a:off x="838200" y="1596038"/>
            <a:ext cx="4786982" cy="2632285"/>
          </a:xfrm>
          <a:prstGeom prst="rect">
            <a:avLst/>
          </a:prstGeom>
        </p:spPr>
      </p:pic>
      <p:sp>
        <p:nvSpPr>
          <p:cNvPr id="3" name="TextBox 2">
            <a:extLst>
              <a:ext uri="{FF2B5EF4-FFF2-40B4-BE49-F238E27FC236}">
                <a16:creationId xmlns:a16="http://schemas.microsoft.com/office/drawing/2014/main" id="{B72A6810-D187-C428-16E0-455C57A752B9}"/>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3: Resolving AMR phenotype-genotype discrepancies from Salmonella enterica genomes</a:t>
            </a:r>
          </a:p>
        </p:txBody>
      </p:sp>
    </p:spTree>
    <p:extLst>
      <p:ext uri="{BB962C8B-B14F-4D97-AF65-F5344CB8AC3E}">
        <p14:creationId xmlns:p14="http://schemas.microsoft.com/office/powerpoint/2010/main" val="2856560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85F36-596D-740B-76FE-74F195156581}"/>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895B54C-FC82-5FDF-3920-A980B3CA6862}"/>
              </a:ext>
            </a:extLst>
          </p:cNvPr>
          <p:cNvSpPr>
            <a:spLocks noGrp="1"/>
          </p:cNvSpPr>
          <p:nvPr>
            <p:ph type="sldNum" sz="quarter" idx="12"/>
          </p:nvPr>
        </p:nvSpPr>
        <p:spPr/>
        <p:txBody>
          <a:bodyPr/>
          <a:lstStyle/>
          <a:p>
            <a:fld id="{75AEF4DF-2886-834E-8BD5-00D5F339C13C}" type="slidenum">
              <a:rPr lang="en-GB" smtClean="0"/>
              <a:t>22</a:t>
            </a:fld>
            <a:endParaRPr lang="en-GB"/>
          </a:p>
        </p:txBody>
      </p:sp>
      <p:sp>
        <p:nvSpPr>
          <p:cNvPr id="2" name="TextBox 1">
            <a:extLst>
              <a:ext uri="{FF2B5EF4-FFF2-40B4-BE49-F238E27FC236}">
                <a16:creationId xmlns:a16="http://schemas.microsoft.com/office/drawing/2014/main" id="{E2507FA9-F35C-980A-00B9-FCCAFF3BE77E}"/>
              </a:ext>
            </a:extLst>
          </p:cNvPr>
          <p:cNvSpPr txBox="1"/>
          <p:nvPr/>
        </p:nvSpPr>
        <p:spPr>
          <a:xfrm>
            <a:off x="838200" y="4496836"/>
            <a:ext cx="10800371" cy="923330"/>
          </a:xfrm>
          <a:prstGeom prst="rect">
            <a:avLst/>
          </a:prstGeom>
          <a:noFill/>
        </p:spPr>
        <p:txBody>
          <a:bodyPr wrap="square">
            <a:spAutoFit/>
          </a:bodyPr>
          <a:lstStyle/>
          <a:p>
            <a:r>
              <a:rPr lang="en-GB" sz="1800" dirty="0">
                <a:effectLst/>
                <a:latin typeface="Corbel" panose="020B0503020204020204" pitchFamily="34" charset="0"/>
                <a:cs typeface="Times New Roman" panose="02020603050405020304" pitchFamily="18" charset="0"/>
                <a:sym typeface="Wingdings" pitchFamily="2" charset="2"/>
              </a:rPr>
              <a:t> </a:t>
            </a:r>
            <a:r>
              <a:rPr lang="en-GB" b="1" dirty="0"/>
              <a:t>Question</a:t>
            </a:r>
            <a:r>
              <a:rPr lang="en-GB" dirty="0"/>
              <a:t> All four </a:t>
            </a:r>
            <a:r>
              <a:rPr lang="en-GB" i="1" dirty="0"/>
              <a:t>Salmonella</a:t>
            </a:r>
            <a:r>
              <a:rPr lang="en-GB" dirty="0"/>
              <a:t> strains are </a:t>
            </a:r>
            <a:r>
              <a:rPr lang="en-GB" b="1" dirty="0"/>
              <a:t>resistant to ampicillin </a:t>
            </a:r>
            <a:r>
              <a:rPr lang="en-GB" dirty="0"/>
              <a:t>according to phenotypic testing. Can you identify which resistance determinant(s) are responsible for phenotypic resistance to ampicillin in each strain? Do all four strains carry at least one resistance determinant that could explain ampicillin resistance?</a:t>
            </a:r>
          </a:p>
        </p:txBody>
      </p:sp>
      <p:pic>
        <p:nvPicPr>
          <p:cNvPr id="4" name="Picture 3">
            <a:extLst>
              <a:ext uri="{FF2B5EF4-FFF2-40B4-BE49-F238E27FC236}">
                <a16:creationId xmlns:a16="http://schemas.microsoft.com/office/drawing/2014/main" id="{156BDAE0-EBAE-87EB-5868-596214D628C1}"/>
              </a:ext>
            </a:extLst>
          </p:cNvPr>
          <p:cNvPicPr>
            <a:picLocks noChangeAspect="1"/>
          </p:cNvPicPr>
          <p:nvPr/>
        </p:nvPicPr>
        <p:blipFill>
          <a:blip r:embed="rId3"/>
          <a:stretch>
            <a:fillRect/>
          </a:stretch>
        </p:blipFill>
        <p:spPr>
          <a:xfrm>
            <a:off x="838200" y="1596038"/>
            <a:ext cx="4786982" cy="2632285"/>
          </a:xfrm>
          <a:prstGeom prst="rect">
            <a:avLst/>
          </a:prstGeom>
        </p:spPr>
      </p:pic>
      <p:sp>
        <p:nvSpPr>
          <p:cNvPr id="3" name="TextBox 2">
            <a:extLst>
              <a:ext uri="{FF2B5EF4-FFF2-40B4-BE49-F238E27FC236}">
                <a16:creationId xmlns:a16="http://schemas.microsoft.com/office/drawing/2014/main" id="{1CF62F68-EF04-4DCE-44E5-78C09A175997}"/>
              </a:ext>
            </a:extLst>
          </p:cNvPr>
          <p:cNvSpPr txBox="1"/>
          <p:nvPr/>
        </p:nvSpPr>
        <p:spPr>
          <a:xfrm>
            <a:off x="5729093" y="2394215"/>
            <a:ext cx="1358064" cy="369332"/>
          </a:xfrm>
          <a:prstGeom prst="rect">
            <a:avLst/>
          </a:prstGeom>
          <a:noFill/>
        </p:spPr>
        <p:txBody>
          <a:bodyPr wrap="none" rtlCol="0">
            <a:spAutoFit/>
          </a:bodyPr>
          <a:lstStyle/>
          <a:p>
            <a:r>
              <a:rPr lang="en-GB" dirty="0">
                <a:sym typeface="Wingdings" pitchFamily="2" charset="2"/>
              </a:rPr>
              <a:t> </a:t>
            </a:r>
            <a:r>
              <a:rPr lang="en-GB" i="1" dirty="0"/>
              <a:t>blaTEM-1</a:t>
            </a:r>
          </a:p>
        </p:txBody>
      </p:sp>
      <p:sp>
        <p:nvSpPr>
          <p:cNvPr id="5" name="TextBox 4">
            <a:extLst>
              <a:ext uri="{FF2B5EF4-FFF2-40B4-BE49-F238E27FC236}">
                <a16:creationId xmlns:a16="http://schemas.microsoft.com/office/drawing/2014/main" id="{159252CF-54DA-CB4E-D0D1-445DFDC4F8CE}"/>
              </a:ext>
            </a:extLst>
          </p:cNvPr>
          <p:cNvSpPr txBox="1"/>
          <p:nvPr/>
        </p:nvSpPr>
        <p:spPr>
          <a:xfrm>
            <a:off x="5729093" y="3670037"/>
            <a:ext cx="1358064" cy="369332"/>
          </a:xfrm>
          <a:prstGeom prst="rect">
            <a:avLst/>
          </a:prstGeom>
          <a:noFill/>
        </p:spPr>
        <p:txBody>
          <a:bodyPr wrap="none" rtlCol="0">
            <a:spAutoFit/>
          </a:bodyPr>
          <a:lstStyle/>
          <a:p>
            <a:r>
              <a:rPr lang="en-GB" dirty="0">
                <a:sym typeface="Wingdings" pitchFamily="2" charset="2"/>
              </a:rPr>
              <a:t> </a:t>
            </a:r>
            <a:r>
              <a:rPr lang="en-GB" i="1" dirty="0"/>
              <a:t>blaTEM-1</a:t>
            </a:r>
          </a:p>
        </p:txBody>
      </p:sp>
      <p:sp>
        <p:nvSpPr>
          <p:cNvPr id="6" name="TextBox 5">
            <a:extLst>
              <a:ext uri="{FF2B5EF4-FFF2-40B4-BE49-F238E27FC236}">
                <a16:creationId xmlns:a16="http://schemas.microsoft.com/office/drawing/2014/main" id="{216469DA-3B16-C75A-000B-3833C9D63896}"/>
              </a:ext>
            </a:extLst>
          </p:cNvPr>
          <p:cNvSpPr txBox="1"/>
          <p:nvPr/>
        </p:nvSpPr>
        <p:spPr>
          <a:xfrm>
            <a:off x="5729093" y="3217094"/>
            <a:ext cx="1545616" cy="369332"/>
          </a:xfrm>
          <a:prstGeom prst="rect">
            <a:avLst/>
          </a:prstGeom>
          <a:noFill/>
        </p:spPr>
        <p:txBody>
          <a:bodyPr wrap="none" rtlCol="0">
            <a:spAutoFit/>
          </a:bodyPr>
          <a:lstStyle/>
          <a:p>
            <a:r>
              <a:rPr lang="en-GB" dirty="0">
                <a:sym typeface="Wingdings" pitchFamily="2" charset="2"/>
              </a:rPr>
              <a:t> </a:t>
            </a:r>
            <a:r>
              <a:rPr lang="en-GB" i="1" dirty="0"/>
              <a:t>blaCARB-2</a:t>
            </a:r>
          </a:p>
        </p:txBody>
      </p:sp>
      <p:sp>
        <p:nvSpPr>
          <p:cNvPr id="8" name="TextBox 7">
            <a:extLst>
              <a:ext uri="{FF2B5EF4-FFF2-40B4-BE49-F238E27FC236}">
                <a16:creationId xmlns:a16="http://schemas.microsoft.com/office/drawing/2014/main" id="{575C5BB4-E6A2-B36E-4E59-D458DEF91A75}"/>
              </a:ext>
            </a:extLst>
          </p:cNvPr>
          <p:cNvSpPr txBox="1"/>
          <p:nvPr/>
        </p:nvSpPr>
        <p:spPr>
          <a:xfrm>
            <a:off x="5729093" y="2805957"/>
            <a:ext cx="803425" cy="369332"/>
          </a:xfrm>
          <a:prstGeom prst="rect">
            <a:avLst/>
          </a:prstGeom>
          <a:noFill/>
        </p:spPr>
        <p:txBody>
          <a:bodyPr wrap="none" rtlCol="0">
            <a:spAutoFit/>
          </a:bodyPr>
          <a:lstStyle/>
          <a:p>
            <a:r>
              <a:rPr lang="en-GB" dirty="0">
                <a:sym typeface="Wingdings" pitchFamily="2" charset="2"/>
              </a:rPr>
              <a:t> </a:t>
            </a:r>
            <a:r>
              <a:rPr lang="en-GB" dirty="0"/>
              <a:t>???</a:t>
            </a:r>
          </a:p>
        </p:txBody>
      </p:sp>
      <p:sp>
        <p:nvSpPr>
          <p:cNvPr id="9" name="TextBox 8">
            <a:extLst>
              <a:ext uri="{FF2B5EF4-FFF2-40B4-BE49-F238E27FC236}">
                <a16:creationId xmlns:a16="http://schemas.microsoft.com/office/drawing/2014/main" id="{97A3F6C2-0DDB-C405-C740-9C3E4C7A60B8}"/>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3: Resolving AMR phenotype-genotype discrepancies from Salmonella enterica genomes</a:t>
            </a:r>
          </a:p>
        </p:txBody>
      </p:sp>
    </p:spTree>
    <p:extLst>
      <p:ext uri="{BB962C8B-B14F-4D97-AF65-F5344CB8AC3E}">
        <p14:creationId xmlns:p14="http://schemas.microsoft.com/office/powerpoint/2010/main" val="574389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98A54-1639-F356-8561-11F93E78C37B}"/>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AB11719-513F-B243-C7D6-44D91C97C9EA}"/>
              </a:ext>
            </a:extLst>
          </p:cNvPr>
          <p:cNvSpPr>
            <a:spLocks noGrp="1"/>
          </p:cNvSpPr>
          <p:nvPr>
            <p:ph type="sldNum" sz="quarter" idx="12"/>
          </p:nvPr>
        </p:nvSpPr>
        <p:spPr/>
        <p:txBody>
          <a:bodyPr/>
          <a:lstStyle/>
          <a:p>
            <a:fld id="{75AEF4DF-2886-834E-8BD5-00D5F339C13C}" type="slidenum">
              <a:rPr lang="en-GB" smtClean="0"/>
              <a:t>23</a:t>
            </a:fld>
            <a:endParaRPr lang="en-GB"/>
          </a:p>
        </p:txBody>
      </p:sp>
      <p:pic>
        <p:nvPicPr>
          <p:cNvPr id="4" name="Picture 3">
            <a:extLst>
              <a:ext uri="{FF2B5EF4-FFF2-40B4-BE49-F238E27FC236}">
                <a16:creationId xmlns:a16="http://schemas.microsoft.com/office/drawing/2014/main" id="{59D33E69-509E-1FDB-ACB1-03084E3D1F05}"/>
              </a:ext>
            </a:extLst>
          </p:cNvPr>
          <p:cNvPicPr>
            <a:picLocks noChangeAspect="1"/>
          </p:cNvPicPr>
          <p:nvPr/>
        </p:nvPicPr>
        <p:blipFill>
          <a:blip r:embed="rId3"/>
          <a:stretch>
            <a:fillRect/>
          </a:stretch>
        </p:blipFill>
        <p:spPr>
          <a:xfrm>
            <a:off x="838200" y="1596038"/>
            <a:ext cx="4786982" cy="2632285"/>
          </a:xfrm>
          <a:prstGeom prst="rect">
            <a:avLst/>
          </a:prstGeom>
        </p:spPr>
      </p:pic>
      <p:sp>
        <p:nvSpPr>
          <p:cNvPr id="3" name="TextBox 2">
            <a:extLst>
              <a:ext uri="{FF2B5EF4-FFF2-40B4-BE49-F238E27FC236}">
                <a16:creationId xmlns:a16="http://schemas.microsoft.com/office/drawing/2014/main" id="{C01171EA-FAB4-3E0B-958C-57D0BBBC848C}"/>
              </a:ext>
            </a:extLst>
          </p:cNvPr>
          <p:cNvSpPr txBox="1"/>
          <p:nvPr/>
        </p:nvSpPr>
        <p:spPr>
          <a:xfrm>
            <a:off x="5729093" y="2394215"/>
            <a:ext cx="1358064" cy="369332"/>
          </a:xfrm>
          <a:prstGeom prst="rect">
            <a:avLst/>
          </a:prstGeom>
          <a:noFill/>
        </p:spPr>
        <p:txBody>
          <a:bodyPr wrap="none" rtlCol="0">
            <a:spAutoFit/>
          </a:bodyPr>
          <a:lstStyle/>
          <a:p>
            <a:r>
              <a:rPr lang="en-GB" dirty="0">
                <a:sym typeface="Wingdings" pitchFamily="2" charset="2"/>
              </a:rPr>
              <a:t> </a:t>
            </a:r>
            <a:r>
              <a:rPr lang="en-GB" i="1" dirty="0"/>
              <a:t>blaTEM-1</a:t>
            </a:r>
          </a:p>
        </p:txBody>
      </p:sp>
      <p:sp>
        <p:nvSpPr>
          <p:cNvPr id="5" name="TextBox 4">
            <a:extLst>
              <a:ext uri="{FF2B5EF4-FFF2-40B4-BE49-F238E27FC236}">
                <a16:creationId xmlns:a16="http://schemas.microsoft.com/office/drawing/2014/main" id="{DE934A82-EE54-17D5-4942-D1F94B1E6D1B}"/>
              </a:ext>
            </a:extLst>
          </p:cNvPr>
          <p:cNvSpPr txBox="1"/>
          <p:nvPr/>
        </p:nvSpPr>
        <p:spPr>
          <a:xfrm>
            <a:off x="5729093" y="3670037"/>
            <a:ext cx="1358064" cy="369332"/>
          </a:xfrm>
          <a:prstGeom prst="rect">
            <a:avLst/>
          </a:prstGeom>
          <a:noFill/>
        </p:spPr>
        <p:txBody>
          <a:bodyPr wrap="none" rtlCol="0">
            <a:spAutoFit/>
          </a:bodyPr>
          <a:lstStyle/>
          <a:p>
            <a:r>
              <a:rPr lang="en-GB" dirty="0">
                <a:sym typeface="Wingdings" pitchFamily="2" charset="2"/>
              </a:rPr>
              <a:t> </a:t>
            </a:r>
            <a:r>
              <a:rPr lang="en-GB" i="1" dirty="0"/>
              <a:t>blaTEM-1</a:t>
            </a:r>
          </a:p>
        </p:txBody>
      </p:sp>
      <p:sp>
        <p:nvSpPr>
          <p:cNvPr id="6" name="TextBox 5">
            <a:extLst>
              <a:ext uri="{FF2B5EF4-FFF2-40B4-BE49-F238E27FC236}">
                <a16:creationId xmlns:a16="http://schemas.microsoft.com/office/drawing/2014/main" id="{BF10F53D-CF41-4A33-28F6-4327D33A52A4}"/>
              </a:ext>
            </a:extLst>
          </p:cNvPr>
          <p:cNvSpPr txBox="1"/>
          <p:nvPr/>
        </p:nvSpPr>
        <p:spPr>
          <a:xfrm>
            <a:off x="5729093" y="3217094"/>
            <a:ext cx="1545616" cy="369332"/>
          </a:xfrm>
          <a:prstGeom prst="rect">
            <a:avLst/>
          </a:prstGeom>
          <a:noFill/>
        </p:spPr>
        <p:txBody>
          <a:bodyPr wrap="none" rtlCol="0">
            <a:spAutoFit/>
          </a:bodyPr>
          <a:lstStyle/>
          <a:p>
            <a:r>
              <a:rPr lang="en-GB" dirty="0">
                <a:sym typeface="Wingdings" pitchFamily="2" charset="2"/>
              </a:rPr>
              <a:t> </a:t>
            </a:r>
            <a:r>
              <a:rPr lang="en-GB" i="1" dirty="0"/>
              <a:t>blaCARB-2</a:t>
            </a:r>
          </a:p>
        </p:txBody>
      </p:sp>
      <p:sp>
        <p:nvSpPr>
          <p:cNvPr id="8" name="TextBox 7">
            <a:extLst>
              <a:ext uri="{FF2B5EF4-FFF2-40B4-BE49-F238E27FC236}">
                <a16:creationId xmlns:a16="http://schemas.microsoft.com/office/drawing/2014/main" id="{93554C09-F28E-CC0F-B20D-7E4BB485CA16}"/>
              </a:ext>
            </a:extLst>
          </p:cNvPr>
          <p:cNvSpPr txBox="1"/>
          <p:nvPr/>
        </p:nvSpPr>
        <p:spPr>
          <a:xfrm>
            <a:off x="5729093" y="2805957"/>
            <a:ext cx="803425" cy="369332"/>
          </a:xfrm>
          <a:prstGeom prst="rect">
            <a:avLst/>
          </a:prstGeom>
          <a:noFill/>
        </p:spPr>
        <p:txBody>
          <a:bodyPr wrap="none" rtlCol="0">
            <a:spAutoFit/>
          </a:bodyPr>
          <a:lstStyle/>
          <a:p>
            <a:r>
              <a:rPr lang="en-GB" dirty="0">
                <a:sym typeface="Wingdings" pitchFamily="2" charset="2"/>
              </a:rPr>
              <a:t> </a:t>
            </a:r>
            <a:r>
              <a:rPr lang="en-GB" dirty="0"/>
              <a:t>???</a:t>
            </a:r>
          </a:p>
        </p:txBody>
      </p:sp>
      <p:pic>
        <p:nvPicPr>
          <p:cNvPr id="9" name="Picture 8" descr="Fig. 1">
            <a:extLst>
              <a:ext uri="{FF2B5EF4-FFF2-40B4-BE49-F238E27FC236}">
                <a16:creationId xmlns:a16="http://schemas.microsoft.com/office/drawing/2014/main" id="{FF017B5C-2D9B-C7C1-C015-9F12B22E4408}"/>
              </a:ext>
            </a:extLst>
          </p:cNvPr>
          <p:cNvPicPr>
            <a:picLocks noChangeAspect="1"/>
          </p:cNvPicPr>
          <p:nvPr/>
        </p:nvPicPr>
        <p:blipFill>
          <a:blip r:embed="rId4"/>
          <a:srcRect t="54029" r="50180"/>
          <a:stretch>
            <a:fillRect/>
          </a:stretch>
        </p:blipFill>
        <p:spPr>
          <a:xfrm>
            <a:off x="7647504" y="1887795"/>
            <a:ext cx="2334696" cy="2241923"/>
          </a:xfrm>
          <a:prstGeom prst="rect">
            <a:avLst/>
          </a:prstGeom>
        </p:spPr>
      </p:pic>
      <p:sp>
        <p:nvSpPr>
          <p:cNvPr id="15" name="TextBox 14">
            <a:extLst>
              <a:ext uri="{FF2B5EF4-FFF2-40B4-BE49-F238E27FC236}">
                <a16:creationId xmlns:a16="http://schemas.microsoft.com/office/drawing/2014/main" id="{7AADF1F4-6575-7796-6E71-6AFA98589748}"/>
              </a:ext>
            </a:extLst>
          </p:cNvPr>
          <p:cNvSpPr txBox="1"/>
          <p:nvPr/>
        </p:nvSpPr>
        <p:spPr>
          <a:xfrm>
            <a:off x="7616251" y="1515670"/>
            <a:ext cx="795411" cy="369332"/>
          </a:xfrm>
          <a:prstGeom prst="rect">
            <a:avLst/>
          </a:prstGeom>
          <a:noFill/>
        </p:spPr>
        <p:txBody>
          <a:bodyPr wrap="none" rtlCol="0">
            <a:spAutoFit/>
          </a:bodyPr>
          <a:lstStyle/>
          <a:p>
            <a:r>
              <a:rPr lang="en-GB" dirty="0"/>
              <a:t>WD17</a:t>
            </a:r>
            <a:endParaRPr lang="en-GB" i="1" dirty="0"/>
          </a:p>
        </p:txBody>
      </p:sp>
      <p:sp>
        <p:nvSpPr>
          <p:cNvPr id="17" name="TextBox 16">
            <a:extLst>
              <a:ext uri="{FF2B5EF4-FFF2-40B4-BE49-F238E27FC236}">
                <a16:creationId xmlns:a16="http://schemas.microsoft.com/office/drawing/2014/main" id="{08842955-D638-944F-F8A7-15AF7D2D239D}"/>
              </a:ext>
            </a:extLst>
          </p:cNvPr>
          <p:cNvSpPr txBox="1"/>
          <p:nvPr/>
        </p:nvSpPr>
        <p:spPr>
          <a:xfrm>
            <a:off x="838200" y="4496836"/>
            <a:ext cx="10800371" cy="923330"/>
          </a:xfrm>
          <a:prstGeom prst="rect">
            <a:avLst/>
          </a:prstGeom>
          <a:noFill/>
        </p:spPr>
        <p:txBody>
          <a:bodyPr wrap="square">
            <a:spAutoFit/>
          </a:bodyPr>
          <a:lstStyle/>
          <a:p>
            <a:r>
              <a:rPr lang="en-GB" sz="1800" dirty="0">
                <a:effectLst/>
                <a:latin typeface="Corbel" panose="020B0503020204020204" pitchFamily="34" charset="0"/>
                <a:cs typeface="Times New Roman" panose="02020603050405020304" pitchFamily="18" charset="0"/>
                <a:sym typeface="Wingdings" pitchFamily="2" charset="2"/>
              </a:rPr>
              <a:t> </a:t>
            </a:r>
            <a:r>
              <a:rPr lang="en-GB" b="1" dirty="0"/>
              <a:t>Question</a:t>
            </a:r>
            <a:r>
              <a:rPr lang="en-GB" dirty="0"/>
              <a:t> All four </a:t>
            </a:r>
            <a:r>
              <a:rPr lang="en-GB" i="1" dirty="0"/>
              <a:t>Salmonella</a:t>
            </a:r>
            <a:r>
              <a:rPr lang="en-GB" dirty="0"/>
              <a:t> strains are </a:t>
            </a:r>
            <a:r>
              <a:rPr lang="en-GB" b="1" dirty="0"/>
              <a:t>resistant to ampicillin </a:t>
            </a:r>
            <a:r>
              <a:rPr lang="en-GB" dirty="0"/>
              <a:t>according to phenotypic testing. Can you identify which resistance determinant(s) are responsible for phenotypic resistance to ampicillin in each strain? Do all four strains carry at least one resistance determinant that could explain ampicillin resistance?</a:t>
            </a:r>
          </a:p>
        </p:txBody>
      </p:sp>
      <p:sp>
        <p:nvSpPr>
          <p:cNvPr id="2" name="TextBox 1">
            <a:extLst>
              <a:ext uri="{FF2B5EF4-FFF2-40B4-BE49-F238E27FC236}">
                <a16:creationId xmlns:a16="http://schemas.microsoft.com/office/drawing/2014/main" id="{95B232A9-3D5E-A363-7551-39C9A2B9F110}"/>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3: Resolving AMR phenotype-genotype discrepancies from Salmonella enterica genomes</a:t>
            </a:r>
          </a:p>
        </p:txBody>
      </p:sp>
    </p:spTree>
    <p:extLst>
      <p:ext uri="{BB962C8B-B14F-4D97-AF65-F5344CB8AC3E}">
        <p14:creationId xmlns:p14="http://schemas.microsoft.com/office/powerpoint/2010/main" val="3560323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DC634-DB0D-64B4-E9C0-9F9E9270684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7A0CB7F-1D8E-24EC-B8A1-B72EED2D3698}"/>
              </a:ext>
            </a:extLst>
          </p:cNvPr>
          <p:cNvSpPr>
            <a:spLocks noGrp="1"/>
          </p:cNvSpPr>
          <p:nvPr>
            <p:ph type="sldNum" sz="quarter" idx="12"/>
          </p:nvPr>
        </p:nvSpPr>
        <p:spPr/>
        <p:txBody>
          <a:bodyPr/>
          <a:lstStyle/>
          <a:p>
            <a:fld id="{75AEF4DF-2886-834E-8BD5-00D5F339C13C}" type="slidenum">
              <a:rPr lang="en-GB" smtClean="0"/>
              <a:t>24</a:t>
            </a:fld>
            <a:endParaRPr lang="en-GB"/>
          </a:p>
        </p:txBody>
      </p:sp>
      <p:sp>
        <p:nvSpPr>
          <p:cNvPr id="17" name="TextBox 16">
            <a:extLst>
              <a:ext uri="{FF2B5EF4-FFF2-40B4-BE49-F238E27FC236}">
                <a16:creationId xmlns:a16="http://schemas.microsoft.com/office/drawing/2014/main" id="{BD67C5E3-EEBF-105D-3781-DA21AB5C6013}"/>
              </a:ext>
            </a:extLst>
          </p:cNvPr>
          <p:cNvSpPr txBox="1"/>
          <p:nvPr/>
        </p:nvSpPr>
        <p:spPr>
          <a:xfrm>
            <a:off x="838200" y="4496836"/>
            <a:ext cx="10800371" cy="646331"/>
          </a:xfrm>
          <a:prstGeom prst="rect">
            <a:avLst/>
          </a:prstGeom>
          <a:noFill/>
        </p:spPr>
        <p:txBody>
          <a:bodyPr wrap="square">
            <a:spAutoFit/>
          </a:bodyPr>
          <a:lstStyle/>
          <a:p>
            <a:r>
              <a:rPr lang="en-GB" sz="1800" dirty="0">
                <a:effectLst/>
                <a:latin typeface="Corbel" panose="020B0503020204020204" pitchFamily="34" charset="0"/>
                <a:cs typeface="Times New Roman" panose="02020603050405020304" pitchFamily="18" charset="0"/>
                <a:sym typeface="Wingdings" pitchFamily="2" charset="2"/>
              </a:rPr>
              <a:t> </a:t>
            </a:r>
            <a:r>
              <a:rPr lang="en-GB" b="1" dirty="0"/>
              <a:t>Question</a:t>
            </a:r>
            <a:r>
              <a:rPr lang="en-GB" dirty="0"/>
              <a:t> Three </a:t>
            </a:r>
            <a:r>
              <a:rPr lang="en-GB" i="1" dirty="0"/>
              <a:t>Salmonella</a:t>
            </a:r>
            <a:r>
              <a:rPr lang="en-GB" dirty="0"/>
              <a:t> strains are resistant to trimethoprim/sulfamethoxazole. Can you identify the AMR genes responsible for resistance to this antibiotic combination?</a:t>
            </a:r>
          </a:p>
        </p:txBody>
      </p:sp>
      <p:pic>
        <p:nvPicPr>
          <p:cNvPr id="10" name="Picture 9">
            <a:extLst>
              <a:ext uri="{FF2B5EF4-FFF2-40B4-BE49-F238E27FC236}">
                <a16:creationId xmlns:a16="http://schemas.microsoft.com/office/drawing/2014/main" id="{B3C53377-692A-8BFC-9BDA-4866358D0870}"/>
              </a:ext>
            </a:extLst>
          </p:cNvPr>
          <p:cNvPicPr>
            <a:picLocks noChangeAspect="1"/>
          </p:cNvPicPr>
          <p:nvPr/>
        </p:nvPicPr>
        <p:blipFill>
          <a:blip r:embed="rId3"/>
          <a:srcRect r="89030"/>
          <a:stretch>
            <a:fillRect/>
          </a:stretch>
        </p:blipFill>
        <p:spPr>
          <a:xfrm>
            <a:off x="916847" y="1789190"/>
            <a:ext cx="989071" cy="2110781"/>
          </a:xfrm>
          <a:prstGeom prst="rect">
            <a:avLst/>
          </a:prstGeom>
        </p:spPr>
      </p:pic>
      <p:pic>
        <p:nvPicPr>
          <p:cNvPr id="11" name="Picture 10">
            <a:extLst>
              <a:ext uri="{FF2B5EF4-FFF2-40B4-BE49-F238E27FC236}">
                <a16:creationId xmlns:a16="http://schemas.microsoft.com/office/drawing/2014/main" id="{01CF8A0E-0B06-94D8-95FD-56107BF506FB}"/>
              </a:ext>
            </a:extLst>
          </p:cNvPr>
          <p:cNvPicPr>
            <a:picLocks noChangeAspect="1"/>
          </p:cNvPicPr>
          <p:nvPr/>
        </p:nvPicPr>
        <p:blipFill>
          <a:blip r:embed="rId3"/>
          <a:srcRect l="83308"/>
          <a:stretch>
            <a:fillRect/>
          </a:stretch>
        </p:blipFill>
        <p:spPr>
          <a:xfrm>
            <a:off x="1894901" y="1789190"/>
            <a:ext cx="1504996" cy="2110781"/>
          </a:xfrm>
          <a:prstGeom prst="rect">
            <a:avLst/>
          </a:prstGeom>
        </p:spPr>
      </p:pic>
      <p:sp>
        <p:nvSpPr>
          <p:cNvPr id="2" name="TextBox 1">
            <a:extLst>
              <a:ext uri="{FF2B5EF4-FFF2-40B4-BE49-F238E27FC236}">
                <a16:creationId xmlns:a16="http://schemas.microsoft.com/office/drawing/2014/main" id="{247E8CA0-2C2A-29B7-A3E5-59E2186342B6}"/>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3: Resolving AMR phenotype-genotype discrepancies from Salmonella enterica genomes</a:t>
            </a:r>
          </a:p>
        </p:txBody>
      </p:sp>
    </p:spTree>
    <p:extLst>
      <p:ext uri="{BB962C8B-B14F-4D97-AF65-F5344CB8AC3E}">
        <p14:creationId xmlns:p14="http://schemas.microsoft.com/office/powerpoint/2010/main" val="2167409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850F1-6BAA-24C6-DF40-F8C75E83B0D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68F0B6A-0B93-CD28-D650-A2593C1CDF91}"/>
              </a:ext>
            </a:extLst>
          </p:cNvPr>
          <p:cNvSpPr>
            <a:spLocks noGrp="1"/>
          </p:cNvSpPr>
          <p:nvPr>
            <p:ph type="sldNum" sz="quarter" idx="12"/>
          </p:nvPr>
        </p:nvSpPr>
        <p:spPr/>
        <p:txBody>
          <a:bodyPr/>
          <a:lstStyle/>
          <a:p>
            <a:fld id="{75AEF4DF-2886-834E-8BD5-00D5F339C13C}" type="slidenum">
              <a:rPr lang="en-GB" smtClean="0"/>
              <a:t>25</a:t>
            </a:fld>
            <a:endParaRPr lang="en-GB"/>
          </a:p>
        </p:txBody>
      </p:sp>
      <p:sp>
        <p:nvSpPr>
          <p:cNvPr id="17" name="TextBox 16">
            <a:extLst>
              <a:ext uri="{FF2B5EF4-FFF2-40B4-BE49-F238E27FC236}">
                <a16:creationId xmlns:a16="http://schemas.microsoft.com/office/drawing/2014/main" id="{D269D893-E9B2-FB63-9CD3-F28A18A85CC0}"/>
              </a:ext>
            </a:extLst>
          </p:cNvPr>
          <p:cNvSpPr txBox="1"/>
          <p:nvPr/>
        </p:nvSpPr>
        <p:spPr>
          <a:xfrm>
            <a:off x="838200" y="4496836"/>
            <a:ext cx="10800371" cy="646331"/>
          </a:xfrm>
          <a:prstGeom prst="rect">
            <a:avLst/>
          </a:prstGeom>
          <a:noFill/>
        </p:spPr>
        <p:txBody>
          <a:bodyPr wrap="square">
            <a:spAutoFit/>
          </a:bodyPr>
          <a:lstStyle/>
          <a:p>
            <a:r>
              <a:rPr lang="en-GB" sz="1800" dirty="0">
                <a:effectLst/>
                <a:latin typeface="Corbel" panose="020B0503020204020204" pitchFamily="34" charset="0"/>
                <a:cs typeface="Times New Roman" panose="02020603050405020304" pitchFamily="18" charset="0"/>
                <a:sym typeface="Wingdings" pitchFamily="2" charset="2"/>
              </a:rPr>
              <a:t> </a:t>
            </a:r>
            <a:r>
              <a:rPr lang="en-GB" b="1" dirty="0"/>
              <a:t>Question</a:t>
            </a:r>
            <a:r>
              <a:rPr lang="en-GB" dirty="0"/>
              <a:t> Three </a:t>
            </a:r>
            <a:r>
              <a:rPr lang="en-GB" i="1" dirty="0"/>
              <a:t>Salmonella</a:t>
            </a:r>
            <a:r>
              <a:rPr lang="en-GB" dirty="0"/>
              <a:t> strains are resistant to trimethoprim/sulfamethoxazole. Can you identify the AMR genes responsible for resistance to this antibiotic combination?</a:t>
            </a:r>
          </a:p>
        </p:txBody>
      </p:sp>
      <p:pic>
        <p:nvPicPr>
          <p:cNvPr id="10" name="Picture 9">
            <a:extLst>
              <a:ext uri="{FF2B5EF4-FFF2-40B4-BE49-F238E27FC236}">
                <a16:creationId xmlns:a16="http://schemas.microsoft.com/office/drawing/2014/main" id="{4EF7BD09-CD01-429C-60A2-E0259AB349C8}"/>
              </a:ext>
            </a:extLst>
          </p:cNvPr>
          <p:cNvPicPr>
            <a:picLocks noChangeAspect="1"/>
          </p:cNvPicPr>
          <p:nvPr/>
        </p:nvPicPr>
        <p:blipFill>
          <a:blip r:embed="rId3"/>
          <a:srcRect r="89030"/>
          <a:stretch>
            <a:fillRect/>
          </a:stretch>
        </p:blipFill>
        <p:spPr>
          <a:xfrm>
            <a:off x="916847" y="1789190"/>
            <a:ext cx="989071" cy="2110781"/>
          </a:xfrm>
          <a:prstGeom prst="rect">
            <a:avLst/>
          </a:prstGeom>
        </p:spPr>
      </p:pic>
      <p:pic>
        <p:nvPicPr>
          <p:cNvPr id="11" name="Picture 10">
            <a:extLst>
              <a:ext uri="{FF2B5EF4-FFF2-40B4-BE49-F238E27FC236}">
                <a16:creationId xmlns:a16="http://schemas.microsoft.com/office/drawing/2014/main" id="{9A137CD1-E139-72FF-D2C1-AEC8E7634BC9}"/>
              </a:ext>
            </a:extLst>
          </p:cNvPr>
          <p:cNvPicPr>
            <a:picLocks noChangeAspect="1"/>
          </p:cNvPicPr>
          <p:nvPr/>
        </p:nvPicPr>
        <p:blipFill>
          <a:blip r:embed="rId3"/>
          <a:srcRect l="83308"/>
          <a:stretch>
            <a:fillRect/>
          </a:stretch>
        </p:blipFill>
        <p:spPr>
          <a:xfrm>
            <a:off x="1894901" y="1789190"/>
            <a:ext cx="1504996" cy="2110781"/>
          </a:xfrm>
          <a:prstGeom prst="rect">
            <a:avLst/>
          </a:prstGeom>
        </p:spPr>
      </p:pic>
      <p:sp>
        <p:nvSpPr>
          <p:cNvPr id="2" name="TextBox 1">
            <a:extLst>
              <a:ext uri="{FF2B5EF4-FFF2-40B4-BE49-F238E27FC236}">
                <a16:creationId xmlns:a16="http://schemas.microsoft.com/office/drawing/2014/main" id="{D2EC43C2-B83D-49CC-5BCF-6B8855A48C5F}"/>
              </a:ext>
            </a:extLst>
          </p:cNvPr>
          <p:cNvSpPr txBox="1"/>
          <p:nvPr/>
        </p:nvSpPr>
        <p:spPr>
          <a:xfrm>
            <a:off x="4001643" y="2844580"/>
            <a:ext cx="6562374" cy="923330"/>
          </a:xfrm>
          <a:prstGeom prst="rect">
            <a:avLst/>
          </a:prstGeom>
          <a:noFill/>
        </p:spPr>
        <p:txBody>
          <a:bodyPr wrap="none" rtlCol="0">
            <a:spAutoFit/>
          </a:bodyPr>
          <a:lstStyle/>
          <a:p>
            <a:pPr marL="285750" indent="-285750">
              <a:buFont typeface="Wingdings" pitchFamily="2" charset="2"/>
              <a:buChar char="à"/>
            </a:pPr>
            <a:r>
              <a:rPr lang="en-GB" i="1" dirty="0" err="1">
                <a:sym typeface="Wingdings" pitchFamily="2" charset="2"/>
              </a:rPr>
              <a:t>dfrA</a:t>
            </a:r>
            <a:r>
              <a:rPr lang="en-GB" dirty="0">
                <a:sym typeface="Wingdings" pitchFamily="2" charset="2"/>
              </a:rPr>
              <a:t> genes (</a:t>
            </a:r>
            <a:r>
              <a:rPr lang="en-GB" dirty="0"/>
              <a:t>trimethoprim-resistant dihydrofolate reductase)</a:t>
            </a:r>
          </a:p>
          <a:p>
            <a:r>
              <a:rPr lang="en-GB" dirty="0"/>
              <a:t>                      +</a:t>
            </a:r>
          </a:p>
          <a:p>
            <a:r>
              <a:rPr lang="en-GB" dirty="0"/>
              <a:t>       sul1 or sul3 (</a:t>
            </a:r>
            <a:r>
              <a:rPr lang="en-GB" dirty="0" err="1"/>
              <a:t>sulfonamide</a:t>
            </a:r>
            <a:r>
              <a:rPr lang="en-GB" dirty="0"/>
              <a:t>-resistant dihydropteroate synthase)</a:t>
            </a:r>
          </a:p>
        </p:txBody>
      </p:sp>
      <p:sp>
        <p:nvSpPr>
          <p:cNvPr id="3" name="TextBox 2">
            <a:extLst>
              <a:ext uri="{FF2B5EF4-FFF2-40B4-BE49-F238E27FC236}">
                <a16:creationId xmlns:a16="http://schemas.microsoft.com/office/drawing/2014/main" id="{1F6C8175-880D-8A01-B4A4-87C6D7D03FD7}"/>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3: Resolving AMR phenotype-genotype discrepancies from Salmonella enterica genomes</a:t>
            </a:r>
          </a:p>
        </p:txBody>
      </p:sp>
    </p:spTree>
    <p:extLst>
      <p:ext uri="{BB962C8B-B14F-4D97-AF65-F5344CB8AC3E}">
        <p14:creationId xmlns:p14="http://schemas.microsoft.com/office/powerpoint/2010/main" val="567834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A2430-4352-74D8-A73A-00B9E1FA531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7C6D82C-8205-1AD3-260D-B19EF4F9779D}"/>
              </a:ext>
            </a:extLst>
          </p:cNvPr>
          <p:cNvSpPr>
            <a:spLocks noGrp="1"/>
          </p:cNvSpPr>
          <p:nvPr>
            <p:ph type="sldNum" sz="quarter" idx="12"/>
          </p:nvPr>
        </p:nvSpPr>
        <p:spPr/>
        <p:txBody>
          <a:bodyPr/>
          <a:lstStyle/>
          <a:p>
            <a:fld id="{75AEF4DF-2886-834E-8BD5-00D5F339C13C}" type="slidenum">
              <a:rPr lang="en-GB" smtClean="0"/>
              <a:t>26</a:t>
            </a:fld>
            <a:endParaRPr lang="en-GB"/>
          </a:p>
        </p:txBody>
      </p:sp>
      <p:sp>
        <p:nvSpPr>
          <p:cNvPr id="17" name="TextBox 16">
            <a:extLst>
              <a:ext uri="{FF2B5EF4-FFF2-40B4-BE49-F238E27FC236}">
                <a16:creationId xmlns:a16="http://schemas.microsoft.com/office/drawing/2014/main" id="{90BDD0E0-1D18-9835-D7E9-2C890D891FC6}"/>
              </a:ext>
            </a:extLst>
          </p:cNvPr>
          <p:cNvSpPr txBox="1"/>
          <p:nvPr/>
        </p:nvSpPr>
        <p:spPr>
          <a:xfrm>
            <a:off x="838200" y="4496836"/>
            <a:ext cx="10800371" cy="646331"/>
          </a:xfrm>
          <a:prstGeom prst="rect">
            <a:avLst/>
          </a:prstGeom>
          <a:noFill/>
        </p:spPr>
        <p:txBody>
          <a:bodyPr wrap="square">
            <a:spAutoFit/>
          </a:bodyPr>
          <a:lstStyle/>
          <a:p>
            <a:r>
              <a:rPr lang="en-GB" sz="1800" dirty="0">
                <a:effectLst/>
                <a:latin typeface="Corbel" panose="020B0503020204020204" pitchFamily="34" charset="0"/>
                <a:cs typeface="Times New Roman" panose="02020603050405020304" pitchFamily="18" charset="0"/>
                <a:sym typeface="Wingdings" pitchFamily="2" charset="2"/>
              </a:rPr>
              <a:t> </a:t>
            </a:r>
            <a:r>
              <a:rPr lang="en-GB" b="1" dirty="0"/>
              <a:t>Question</a:t>
            </a:r>
            <a:r>
              <a:rPr lang="en-GB" dirty="0"/>
              <a:t> Two </a:t>
            </a:r>
            <a:r>
              <a:rPr lang="en-GB" i="1" dirty="0"/>
              <a:t>Salmonella</a:t>
            </a:r>
            <a:r>
              <a:rPr lang="en-GB" dirty="0"/>
              <a:t> strains (B27 and WW28B) are resistant to fosfomycin. Can you identify the AMR gene(s) responsible for resistance to this antibiotic?</a:t>
            </a:r>
          </a:p>
        </p:txBody>
      </p:sp>
      <p:pic>
        <p:nvPicPr>
          <p:cNvPr id="10" name="Picture 9">
            <a:extLst>
              <a:ext uri="{FF2B5EF4-FFF2-40B4-BE49-F238E27FC236}">
                <a16:creationId xmlns:a16="http://schemas.microsoft.com/office/drawing/2014/main" id="{D32A2B0A-22B8-E424-63B2-2B558CF8EA72}"/>
              </a:ext>
            </a:extLst>
          </p:cNvPr>
          <p:cNvPicPr>
            <a:picLocks noChangeAspect="1"/>
          </p:cNvPicPr>
          <p:nvPr/>
        </p:nvPicPr>
        <p:blipFill>
          <a:blip r:embed="rId3"/>
          <a:srcRect r="89030"/>
          <a:stretch>
            <a:fillRect/>
          </a:stretch>
        </p:blipFill>
        <p:spPr>
          <a:xfrm>
            <a:off x="916847" y="1789190"/>
            <a:ext cx="989071" cy="2110781"/>
          </a:xfrm>
          <a:prstGeom prst="rect">
            <a:avLst/>
          </a:prstGeom>
        </p:spPr>
      </p:pic>
      <p:pic>
        <p:nvPicPr>
          <p:cNvPr id="3" name="Picture 2">
            <a:extLst>
              <a:ext uri="{FF2B5EF4-FFF2-40B4-BE49-F238E27FC236}">
                <a16:creationId xmlns:a16="http://schemas.microsoft.com/office/drawing/2014/main" id="{96616CA2-547B-86FE-FCDD-70D0DFEB2510}"/>
              </a:ext>
            </a:extLst>
          </p:cNvPr>
          <p:cNvPicPr>
            <a:picLocks noChangeAspect="1"/>
          </p:cNvPicPr>
          <p:nvPr/>
        </p:nvPicPr>
        <p:blipFill>
          <a:blip r:embed="rId4"/>
          <a:srcRect l="84678" b="9596"/>
          <a:stretch>
            <a:fillRect/>
          </a:stretch>
        </p:blipFill>
        <p:spPr>
          <a:xfrm>
            <a:off x="1883884" y="1789190"/>
            <a:ext cx="1146533" cy="2110781"/>
          </a:xfrm>
          <a:prstGeom prst="rect">
            <a:avLst/>
          </a:prstGeom>
        </p:spPr>
      </p:pic>
      <p:sp>
        <p:nvSpPr>
          <p:cNvPr id="2" name="TextBox 1">
            <a:extLst>
              <a:ext uri="{FF2B5EF4-FFF2-40B4-BE49-F238E27FC236}">
                <a16:creationId xmlns:a16="http://schemas.microsoft.com/office/drawing/2014/main" id="{B49A838C-632A-537F-88CB-4FF39C3370C1}"/>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3: Resolving AMR phenotype-genotype discrepancies from Salmonella enterica genomes</a:t>
            </a:r>
          </a:p>
        </p:txBody>
      </p:sp>
    </p:spTree>
    <p:extLst>
      <p:ext uri="{BB962C8B-B14F-4D97-AF65-F5344CB8AC3E}">
        <p14:creationId xmlns:p14="http://schemas.microsoft.com/office/powerpoint/2010/main" val="864124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20443-8227-E0A6-1F67-4C73EE18CA0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ED7EFA9-D6C5-1AF5-C0A9-3DE8F0FB59C9}"/>
              </a:ext>
            </a:extLst>
          </p:cNvPr>
          <p:cNvSpPr>
            <a:spLocks noGrp="1"/>
          </p:cNvSpPr>
          <p:nvPr>
            <p:ph type="sldNum" sz="quarter" idx="12"/>
          </p:nvPr>
        </p:nvSpPr>
        <p:spPr/>
        <p:txBody>
          <a:bodyPr/>
          <a:lstStyle/>
          <a:p>
            <a:fld id="{75AEF4DF-2886-834E-8BD5-00D5F339C13C}" type="slidenum">
              <a:rPr lang="en-GB" smtClean="0"/>
              <a:t>27</a:t>
            </a:fld>
            <a:endParaRPr lang="en-GB"/>
          </a:p>
        </p:txBody>
      </p:sp>
      <p:sp>
        <p:nvSpPr>
          <p:cNvPr id="17" name="TextBox 16">
            <a:extLst>
              <a:ext uri="{FF2B5EF4-FFF2-40B4-BE49-F238E27FC236}">
                <a16:creationId xmlns:a16="http://schemas.microsoft.com/office/drawing/2014/main" id="{239F623E-65A3-35DA-C121-F5AD6A5181E5}"/>
              </a:ext>
            </a:extLst>
          </p:cNvPr>
          <p:cNvSpPr txBox="1"/>
          <p:nvPr/>
        </p:nvSpPr>
        <p:spPr>
          <a:xfrm>
            <a:off x="838200" y="4496836"/>
            <a:ext cx="10800371" cy="646331"/>
          </a:xfrm>
          <a:prstGeom prst="rect">
            <a:avLst/>
          </a:prstGeom>
          <a:noFill/>
        </p:spPr>
        <p:txBody>
          <a:bodyPr wrap="square">
            <a:spAutoFit/>
          </a:bodyPr>
          <a:lstStyle/>
          <a:p>
            <a:r>
              <a:rPr lang="en-GB" sz="1800" dirty="0">
                <a:effectLst/>
                <a:latin typeface="Corbel" panose="020B0503020204020204" pitchFamily="34" charset="0"/>
                <a:cs typeface="Times New Roman" panose="02020603050405020304" pitchFamily="18" charset="0"/>
                <a:sym typeface="Wingdings" pitchFamily="2" charset="2"/>
              </a:rPr>
              <a:t> </a:t>
            </a:r>
            <a:r>
              <a:rPr lang="en-GB" b="1" dirty="0"/>
              <a:t>Question</a:t>
            </a:r>
            <a:r>
              <a:rPr lang="en-GB" dirty="0"/>
              <a:t> Two </a:t>
            </a:r>
            <a:r>
              <a:rPr lang="en-GB" i="1" dirty="0"/>
              <a:t>Salmonella</a:t>
            </a:r>
            <a:r>
              <a:rPr lang="en-GB" dirty="0"/>
              <a:t> strains (B27 and WW28B) are resistant to fosfomycin. Can you identify the AMR gene(s) responsible for resistance to this antibiotic?</a:t>
            </a:r>
          </a:p>
        </p:txBody>
      </p:sp>
      <p:pic>
        <p:nvPicPr>
          <p:cNvPr id="10" name="Picture 9">
            <a:extLst>
              <a:ext uri="{FF2B5EF4-FFF2-40B4-BE49-F238E27FC236}">
                <a16:creationId xmlns:a16="http://schemas.microsoft.com/office/drawing/2014/main" id="{A7BCA27C-B14B-B86F-3B3F-B8F4BA9B2AF9}"/>
              </a:ext>
            </a:extLst>
          </p:cNvPr>
          <p:cNvPicPr>
            <a:picLocks noChangeAspect="1"/>
          </p:cNvPicPr>
          <p:nvPr/>
        </p:nvPicPr>
        <p:blipFill>
          <a:blip r:embed="rId3"/>
          <a:srcRect r="89030"/>
          <a:stretch>
            <a:fillRect/>
          </a:stretch>
        </p:blipFill>
        <p:spPr>
          <a:xfrm>
            <a:off x="916847" y="1789190"/>
            <a:ext cx="989071" cy="2110781"/>
          </a:xfrm>
          <a:prstGeom prst="rect">
            <a:avLst/>
          </a:prstGeom>
        </p:spPr>
      </p:pic>
      <p:pic>
        <p:nvPicPr>
          <p:cNvPr id="3" name="Picture 2">
            <a:extLst>
              <a:ext uri="{FF2B5EF4-FFF2-40B4-BE49-F238E27FC236}">
                <a16:creationId xmlns:a16="http://schemas.microsoft.com/office/drawing/2014/main" id="{69A6B669-453F-5D51-22CA-C246059751F3}"/>
              </a:ext>
            </a:extLst>
          </p:cNvPr>
          <p:cNvPicPr>
            <a:picLocks noChangeAspect="1"/>
          </p:cNvPicPr>
          <p:nvPr/>
        </p:nvPicPr>
        <p:blipFill>
          <a:blip r:embed="rId4"/>
          <a:srcRect l="84678" b="9596"/>
          <a:stretch>
            <a:fillRect/>
          </a:stretch>
        </p:blipFill>
        <p:spPr>
          <a:xfrm>
            <a:off x="1883884" y="1789190"/>
            <a:ext cx="1146533" cy="2110781"/>
          </a:xfrm>
          <a:prstGeom prst="rect">
            <a:avLst/>
          </a:prstGeom>
        </p:spPr>
      </p:pic>
      <p:sp>
        <p:nvSpPr>
          <p:cNvPr id="4" name="TextBox 3">
            <a:extLst>
              <a:ext uri="{FF2B5EF4-FFF2-40B4-BE49-F238E27FC236}">
                <a16:creationId xmlns:a16="http://schemas.microsoft.com/office/drawing/2014/main" id="{2A252668-2A96-EDBF-455C-46B5768CC457}"/>
              </a:ext>
            </a:extLst>
          </p:cNvPr>
          <p:cNvSpPr txBox="1"/>
          <p:nvPr/>
        </p:nvSpPr>
        <p:spPr>
          <a:xfrm>
            <a:off x="3167433" y="2453214"/>
            <a:ext cx="2748626" cy="923330"/>
          </a:xfrm>
          <a:prstGeom prst="rect">
            <a:avLst/>
          </a:prstGeom>
          <a:noFill/>
        </p:spPr>
        <p:txBody>
          <a:bodyPr wrap="square">
            <a:spAutoFit/>
          </a:bodyPr>
          <a:lstStyle/>
          <a:p>
            <a:pPr marL="0" marR="0">
              <a:buNone/>
            </a:pPr>
            <a:r>
              <a:rPr lang="en-GB" sz="1800" dirty="0">
                <a:solidFill>
                  <a:schemeClr val="tx1"/>
                </a:solidFill>
                <a:effectLst/>
                <a:latin typeface="+mn-lt"/>
                <a:sym typeface="Wingdings" pitchFamily="2" charset="2"/>
              </a:rPr>
              <a:t> </a:t>
            </a:r>
            <a:r>
              <a:rPr lang="en-GB" sz="1800" i="1" dirty="0">
                <a:solidFill>
                  <a:schemeClr val="tx1"/>
                </a:solidFill>
                <a:effectLst/>
                <a:latin typeface="+mn-lt"/>
              </a:rPr>
              <a:t>fosA4</a:t>
            </a:r>
            <a:r>
              <a:rPr lang="en-GB" sz="1800" dirty="0">
                <a:solidFill>
                  <a:schemeClr val="tx1"/>
                </a:solidFill>
                <a:effectLst/>
                <a:latin typeface="+mn-lt"/>
              </a:rPr>
              <a:t> fosfomycin resistance glutathione transferase</a:t>
            </a:r>
            <a:endParaRPr lang="en-GB" sz="1275" dirty="0">
              <a:solidFill>
                <a:srgbClr val="000000"/>
              </a:solidFill>
              <a:effectLst/>
              <a:latin typeface="Menlo" panose="020B0609030804020204" pitchFamily="49" charset="0"/>
            </a:endParaRPr>
          </a:p>
        </p:txBody>
      </p:sp>
      <p:sp>
        <p:nvSpPr>
          <p:cNvPr id="5" name="TextBox 4">
            <a:extLst>
              <a:ext uri="{FF2B5EF4-FFF2-40B4-BE49-F238E27FC236}">
                <a16:creationId xmlns:a16="http://schemas.microsoft.com/office/drawing/2014/main" id="{6621A9B4-FDF5-F2E5-46BF-B3CBAE2CF9D9}"/>
              </a:ext>
            </a:extLst>
          </p:cNvPr>
          <p:cNvSpPr txBox="1"/>
          <p:nvPr/>
        </p:nvSpPr>
        <p:spPr>
          <a:xfrm>
            <a:off x="3167431" y="3530639"/>
            <a:ext cx="5844365" cy="369332"/>
          </a:xfrm>
          <a:prstGeom prst="rect">
            <a:avLst/>
          </a:prstGeom>
          <a:noFill/>
        </p:spPr>
        <p:txBody>
          <a:bodyPr wrap="square">
            <a:spAutoFit/>
          </a:bodyPr>
          <a:lstStyle/>
          <a:p>
            <a:pPr marL="0" marR="0">
              <a:buNone/>
            </a:pPr>
            <a:r>
              <a:rPr lang="en-GB" sz="1800" dirty="0">
                <a:solidFill>
                  <a:schemeClr val="tx1"/>
                </a:solidFill>
                <a:effectLst/>
                <a:latin typeface="+mn-lt"/>
                <a:sym typeface="Wingdings" pitchFamily="2" charset="2"/>
              </a:rPr>
              <a:t> </a:t>
            </a:r>
            <a:r>
              <a:rPr lang="en-GB" sz="1800" dirty="0">
                <a:solidFill>
                  <a:schemeClr val="tx1"/>
                </a:solidFill>
                <a:effectLst/>
                <a:latin typeface="+mn-lt"/>
              </a:rPr>
              <a:t>?</a:t>
            </a:r>
            <a:endParaRPr lang="en-GB" sz="1275" dirty="0">
              <a:solidFill>
                <a:srgbClr val="000000"/>
              </a:solidFill>
              <a:effectLst/>
              <a:latin typeface="Menlo" panose="020B0609030804020204" pitchFamily="49" charset="0"/>
            </a:endParaRPr>
          </a:p>
        </p:txBody>
      </p:sp>
      <p:sp>
        <p:nvSpPr>
          <p:cNvPr id="2" name="TextBox 1">
            <a:extLst>
              <a:ext uri="{FF2B5EF4-FFF2-40B4-BE49-F238E27FC236}">
                <a16:creationId xmlns:a16="http://schemas.microsoft.com/office/drawing/2014/main" id="{EE251B43-9758-72C9-3E63-A816452E4152}"/>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3: Resolving AMR phenotype-genotype discrepancies from Salmonella enterica genomes</a:t>
            </a:r>
          </a:p>
        </p:txBody>
      </p:sp>
    </p:spTree>
    <p:extLst>
      <p:ext uri="{BB962C8B-B14F-4D97-AF65-F5344CB8AC3E}">
        <p14:creationId xmlns:p14="http://schemas.microsoft.com/office/powerpoint/2010/main" val="1614276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2CE2E-6658-D0A7-BB48-B9606D40CE6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27AAF3E-C1D6-DC91-3843-DF895FCA1157}"/>
              </a:ext>
            </a:extLst>
          </p:cNvPr>
          <p:cNvSpPr>
            <a:spLocks noGrp="1"/>
          </p:cNvSpPr>
          <p:nvPr>
            <p:ph type="sldNum" sz="quarter" idx="12"/>
          </p:nvPr>
        </p:nvSpPr>
        <p:spPr/>
        <p:txBody>
          <a:bodyPr/>
          <a:lstStyle/>
          <a:p>
            <a:fld id="{75AEF4DF-2886-834E-8BD5-00D5F339C13C}" type="slidenum">
              <a:rPr lang="en-GB" smtClean="0"/>
              <a:t>28</a:t>
            </a:fld>
            <a:endParaRPr lang="en-GB"/>
          </a:p>
        </p:txBody>
      </p:sp>
      <p:sp>
        <p:nvSpPr>
          <p:cNvPr id="17" name="TextBox 16">
            <a:extLst>
              <a:ext uri="{FF2B5EF4-FFF2-40B4-BE49-F238E27FC236}">
                <a16:creationId xmlns:a16="http://schemas.microsoft.com/office/drawing/2014/main" id="{6734189C-5B9C-03C0-6377-4A05356CD1C2}"/>
              </a:ext>
            </a:extLst>
          </p:cNvPr>
          <p:cNvSpPr txBox="1"/>
          <p:nvPr/>
        </p:nvSpPr>
        <p:spPr>
          <a:xfrm>
            <a:off x="838200" y="4496836"/>
            <a:ext cx="10800371" cy="646331"/>
          </a:xfrm>
          <a:prstGeom prst="rect">
            <a:avLst/>
          </a:prstGeom>
          <a:noFill/>
        </p:spPr>
        <p:txBody>
          <a:bodyPr wrap="square">
            <a:spAutoFit/>
          </a:bodyPr>
          <a:lstStyle/>
          <a:p>
            <a:r>
              <a:rPr lang="en-GB" sz="1800" dirty="0">
                <a:effectLst/>
                <a:latin typeface="Corbel" panose="020B0503020204020204" pitchFamily="34" charset="0"/>
                <a:cs typeface="Times New Roman" panose="02020603050405020304" pitchFamily="18" charset="0"/>
                <a:sym typeface="Wingdings" pitchFamily="2" charset="2"/>
              </a:rPr>
              <a:t> </a:t>
            </a:r>
            <a:r>
              <a:rPr lang="en-GB" b="1" dirty="0"/>
              <a:t>Question</a:t>
            </a:r>
            <a:r>
              <a:rPr lang="en-GB" dirty="0"/>
              <a:t> Two </a:t>
            </a:r>
            <a:r>
              <a:rPr lang="en-GB" i="1" dirty="0"/>
              <a:t>Salmonella</a:t>
            </a:r>
            <a:r>
              <a:rPr lang="en-GB" dirty="0"/>
              <a:t> strains (B27 and WW28B) are resistant to fosfomycin. Can you identify the AMR gene(s) responsible for resistance to this antibiotic?</a:t>
            </a:r>
          </a:p>
        </p:txBody>
      </p:sp>
      <p:pic>
        <p:nvPicPr>
          <p:cNvPr id="10" name="Picture 9">
            <a:extLst>
              <a:ext uri="{FF2B5EF4-FFF2-40B4-BE49-F238E27FC236}">
                <a16:creationId xmlns:a16="http://schemas.microsoft.com/office/drawing/2014/main" id="{A8B89B48-6F7A-2405-018C-A3FD08AA1228}"/>
              </a:ext>
            </a:extLst>
          </p:cNvPr>
          <p:cNvPicPr>
            <a:picLocks noChangeAspect="1"/>
          </p:cNvPicPr>
          <p:nvPr/>
        </p:nvPicPr>
        <p:blipFill>
          <a:blip r:embed="rId3"/>
          <a:srcRect r="89030"/>
          <a:stretch>
            <a:fillRect/>
          </a:stretch>
        </p:blipFill>
        <p:spPr>
          <a:xfrm>
            <a:off x="916847" y="1789190"/>
            <a:ext cx="989071" cy="2110781"/>
          </a:xfrm>
          <a:prstGeom prst="rect">
            <a:avLst/>
          </a:prstGeom>
        </p:spPr>
      </p:pic>
      <p:pic>
        <p:nvPicPr>
          <p:cNvPr id="3" name="Picture 2">
            <a:extLst>
              <a:ext uri="{FF2B5EF4-FFF2-40B4-BE49-F238E27FC236}">
                <a16:creationId xmlns:a16="http://schemas.microsoft.com/office/drawing/2014/main" id="{16612D50-7B0D-D244-99A5-1E04F1F41B83}"/>
              </a:ext>
            </a:extLst>
          </p:cNvPr>
          <p:cNvPicPr>
            <a:picLocks noChangeAspect="1"/>
          </p:cNvPicPr>
          <p:nvPr/>
        </p:nvPicPr>
        <p:blipFill>
          <a:blip r:embed="rId4"/>
          <a:srcRect l="84678" b="9596"/>
          <a:stretch>
            <a:fillRect/>
          </a:stretch>
        </p:blipFill>
        <p:spPr>
          <a:xfrm>
            <a:off x="1883884" y="1789190"/>
            <a:ext cx="1146533" cy="2110781"/>
          </a:xfrm>
          <a:prstGeom prst="rect">
            <a:avLst/>
          </a:prstGeom>
        </p:spPr>
      </p:pic>
      <p:sp>
        <p:nvSpPr>
          <p:cNvPr id="5" name="TextBox 4">
            <a:extLst>
              <a:ext uri="{FF2B5EF4-FFF2-40B4-BE49-F238E27FC236}">
                <a16:creationId xmlns:a16="http://schemas.microsoft.com/office/drawing/2014/main" id="{D10C8D5B-B8ED-9C87-30FC-51138527B180}"/>
              </a:ext>
            </a:extLst>
          </p:cNvPr>
          <p:cNvSpPr txBox="1"/>
          <p:nvPr/>
        </p:nvSpPr>
        <p:spPr>
          <a:xfrm>
            <a:off x="3167431" y="3530639"/>
            <a:ext cx="5844365" cy="369332"/>
          </a:xfrm>
          <a:prstGeom prst="rect">
            <a:avLst/>
          </a:prstGeom>
          <a:noFill/>
        </p:spPr>
        <p:txBody>
          <a:bodyPr wrap="square">
            <a:spAutoFit/>
          </a:bodyPr>
          <a:lstStyle/>
          <a:p>
            <a:pPr marL="0" marR="0">
              <a:buNone/>
            </a:pPr>
            <a:r>
              <a:rPr lang="en-GB" sz="1800" dirty="0">
                <a:solidFill>
                  <a:schemeClr val="tx1"/>
                </a:solidFill>
                <a:effectLst/>
                <a:latin typeface="+mn-lt"/>
                <a:sym typeface="Wingdings" pitchFamily="2" charset="2"/>
              </a:rPr>
              <a:t> </a:t>
            </a:r>
            <a:r>
              <a:rPr lang="en-GB" sz="1800" dirty="0">
                <a:solidFill>
                  <a:schemeClr val="tx1"/>
                </a:solidFill>
                <a:effectLst/>
                <a:latin typeface="+mn-lt"/>
              </a:rPr>
              <a:t>?</a:t>
            </a:r>
            <a:endParaRPr lang="en-GB" sz="1275" dirty="0">
              <a:solidFill>
                <a:srgbClr val="000000"/>
              </a:solidFill>
              <a:effectLst/>
              <a:latin typeface="Menlo" panose="020B0609030804020204" pitchFamily="49" charset="0"/>
            </a:endParaRPr>
          </a:p>
        </p:txBody>
      </p:sp>
      <p:pic>
        <p:nvPicPr>
          <p:cNvPr id="8" name="Picture 7" descr="Fig. 1">
            <a:extLst>
              <a:ext uri="{FF2B5EF4-FFF2-40B4-BE49-F238E27FC236}">
                <a16:creationId xmlns:a16="http://schemas.microsoft.com/office/drawing/2014/main" id="{7F82EDF0-66D4-28F7-FFDA-88F1AA760F4A}"/>
              </a:ext>
            </a:extLst>
          </p:cNvPr>
          <p:cNvPicPr>
            <a:picLocks noChangeAspect="1"/>
          </p:cNvPicPr>
          <p:nvPr/>
        </p:nvPicPr>
        <p:blipFill>
          <a:blip r:embed="rId5"/>
          <a:srcRect l="49961" t="52028"/>
          <a:stretch>
            <a:fillRect/>
          </a:stretch>
        </p:blipFill>
        <p:spPr>
          <a:xfrm>
            <a:off x="6393456" y="1695940"/>
            <a:ext cx="2344986" cy="2339515"/>
          </a:xfrm>
          <a:prstGeom prst="rect">
            <a:avLst/>
          </a:prstGeom>
        </p:spPr>
      </p:pic>
      <p:sp>
        <p:nvSpPr>
          <p:cNvPr id="9" name="TextBox 8">
            <a:extLst>
              <a:ext uri="{FF2B5EF4-FFF2-40B4-BE49-F238E27FC236}">
                <a16:creationId xmlns:a16="http://schemas.microsoft.com/office/drawing/2014/main" id="{8C203670-5F17-D4CA-9A8E-6B1B5B988213}"/>
              </a:ext>
            </a:extLst>
          </p:cNvPr>
          <p:cNvSpPr txBox="1"/>
          <p:nvPr/>
        </p:nvSpPr>
        <p:spPr>
          <a:xfrm>
            <a:off x="3167433" y="2453214"/>
            <a:ext cx="2748626" cy="923330"/>
          </a:xfrm>
          <a:prstGeom prst="rect">
            <a:avLst/>
          </a:prstGeom>
          <a:noFill/>
        </p:spPr>
        <p:txBody>
          <a:bodyPr wrap="square">
            <a:spAutoFit/>
          </a:bodyPr>
          <a:lstStyle/>
          <a:p>
            <a:pPr marL="0" marR="0">
              <a:buNone/>
            </a:pPr>
            <a:r>
              <a:rPr lang="en-GB" sz="1800" dirty="0">
                <a:solidFill>
                  <a:schemeClr val="tx1"/>
                </a:solidFill>
                <a:effectLst/>
                <a:latin typeface="+mn-lt"/>
                <a:sym typeface="Wingdings" pitchFamily="2" charset="2"/>
              </a:rPr>
              <a:t> </a:t>
            </a:r>
            <a:r>
              <a:rPr lang="en-GB" sz="1800" i="1" dirty="0">
                <a:solidFill>
                  <a:schemeClr val="tx1"/>
                </a:solidFill>
                <a:effectLst/>
                <a:latin typeface="+mn-lt"/>
              </a:rPr>
              <a:t>fosA4</a:t>
            </a:r>
            <a:r>
              <a:rPr lang="en-GB" sz="1800" dirty="0">
                <a:solidFill>
                  <a:schemeClr val="tx1"/>
                </a:solidFill>
                <a:effectLst/>
                <a:latin typeface="+mn-lt"/>
              </a:rPr>
              <a:t> fosfomycin resistance glutathione transferase</a:t>
            </a:r>
            <a:endParaRPr lang="en-GB" sz="1275" dirty="0">
              <a:solidFill>
                <a:srgbClr val="000000"/>
              </a:solidFill>
              <a:effectLst/>
              <a:latin typeface="Menlo" panose="020B0609030804020204" pitchFamily="49" charset="0"/>
            </a:endParaRPr>
          </a:p>
        </p:txBody>
      </p:sp>
      <p:sp>
        <p:nvSpPr>
          <p:cNvPr id="2" name="TextBox 1">
            <a:extLst>
              <a:ext uri="{FF2B5EF4-FFF2-40B4-BE49-F238E27FC236}">
                <a16:creationId xmlns:a16="http://schemas.microsoft.com/office/drawing/2014/main" id="{11A9129D-8837-681D-E4DD-2C8075159C28}"/>
              </a:ext>
            </a:extLst>
          </p:cNvPr>
          <p:cNvSpPr txBox="1"/>
          <p:nvPr/>
        </p:nvSpPr>
        <p:spPr>
          <a:xfrm>
            <a:off x="734289" y="404195"/>
            <a:ext cx="10381730" cy="954107"/>
          </a:xfrm>
          <a:prstGeom prst="rect">
            <a:avLst/>
          </a:prstGeom>
          <a:noFill/>
        </p:spPr>
        <p:txBody>
          <a:bodyPr wrap="square">
            <a:spAutoFit/>
          </a:bodyPr>
          <a:lstStyle/>
          <a:p>
            <a:r>
              <a:rPr lang="en-GB" sz="2800" b="1" dirty="0">
                <a:latin typeface="Helvetica" pitchFamily="2" charset="0"/>
              </a:rPr>
              <a:t>Case study 3: Resolving AMR phenotype-genotype discrepancies from Salmonella enterica genomes</a:t>
            </a:r>
          </a:p>
        </p:txBody>
      </p:sp>
    </p:spTree>
    <p:extLst>
      <p:ext uri="{BB962C8B-B14F-4D97-AF65-F5344CB8AC3E}">
        <p14:creationId xmlns:p14="http://schemas.microsoft.com/office/powerpoint/2010/main" val="643252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TotalTime>
  <Words>1619</Words>
  <Application>Microsoft Macintosh PowerPoint</Application>
  <PresentationFormat>Widescreen</PresentationFormat>
  <Paragraphs>199</Paragraphs>
  <Slides>28</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Aptos</vt:lpstr>
      <vt:lpstr>Aptos Display</vt:lpstr>
      <vt:lpstr>Arial</vt:lpstr>
      <vt:lpstr>Corbel</vt:lpstr>
      <vt:lpstr>Helvetica</vt:lpstr>
      <vt:lpstr>Menlo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Francesc Coll</dc:creator>
  <cp:lastModifiedBy>Francesc Coll</cp:lastModifiedBy>
  <cp:revision>43</cp:revision>
  <dcterms:created xsi:type="dcterms:W3CDTF">2026-08-26T09:42:13Z</dcterms:created>
  <dcterms:modified xsi:type="dcterms:W3CDTF">2026-10-14T12:16:37Z</dcterms:modified>
</cp:coreProperties>
</file>